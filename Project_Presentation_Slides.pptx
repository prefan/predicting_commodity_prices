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63"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84"/>
  </p:normalViewPr>
  <p:slideViewPr>
    <p:cSldViewPr snapToGrid="0">
      <p:cViewPr varScale="1">
        <p:scale>
          <a:sx n="88" d="100"/>
          <a:sy n="88" d="100"/>
        </p:scale>
        <p:origin x="208" y="9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E89442-A0AF-3B4C-9097-194E7ABE4070}" type="datetimeFigureOut">
              <a:rPr lang="en-US" smtClean="0"/>
              <a:t>2/23/25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BB4F3-D5C3-A646-81DC-101110DC2CEB}" type="slidenum">
              <a:rPr lang="en-US" smtClean="0"/>
              <a:t>‹#›</a:t>
            </a:fld>
            <a:endParaRPr lang="en-US"/>
          </a:p>
        </p:txBody>
      </p:sp>
    </p:spTree>
    <p:extLst>
      <p:ext uri="{BB962C8B-B14F-4D97-AF65-F5344CB8AC3E}">
        <p14:creationId xmlns:p14="http://schemas.microsoft.com/office/powerpoint/2010/main" val="2863853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9965-04F7-2B01-A98D-AD99645337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F04FC5-3AFC-41A2-CBB7-855685CCD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A38C2A-D534-B488-5FDD-BBCA5E895D73}"/>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C6E8DC9A-88B5-215C-8EF9-627A32498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8DB35-13B8-5495-7427-26F86E8445A0}"/>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39233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F3D5-A5C6-B01B-060B-D8C66ED1B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508A37-3134-4170-D970-EC2E676006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88649E-7CE7-DB0B-5F92-26FCA6F978F5}"/>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D2A7357E-3568-89D1-CE9D-9F32F3A9C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060C0-0352-3BA5-8218-421A245ECDE1}"/>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266411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68DF-B649-D617-08F1-FD164804EB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79C4CF-F718-73D3-6508-35EAF4AC43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48608A-CC8D-F93B-521B-D54CEC0F6C3C}"/>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40B642A5-B358-56A4-69EC-698B4DCBC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F89847-010F-52FB-81A6-25DB681B3884}"/>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102298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634A-C1B6-3BE1-E270-BC398E5E3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FCB57-40AF-08FC-5086-DA8FCEBFB6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645D3D-D4A3-F496-BD72-7C8776BE4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36B38C-5666-39D2-4547-307024C7293F}"/>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6" name="Footer Placeholder 5">
            <a:extLst>
              <a:ext uri="{FF2B5EF4-FFF2-40B4-BE49-F238E27FC236}">
                <a16:creationId xmlns:a16="http://schemas.microsoft.com/office/drawing/2014/main" id="{9BFB07DB-9F90-9D02-779C-6AF7F3833B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147CB-6888-9101-5F75-75C2725C229F}"/>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2086573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5BAF2-D20F-A8BD-84AD-36DEF4AEC6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DDED32-C029-F9B4-29F8-0E7AC3C40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BC5496-1AFE-47BB-C292-47509838FD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223716-5A54-435C-52DE-0855332B3A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BC094D-AC18-C2B3-1874-8CCEB8312D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CCD2BB-BFB9-B475-ECEF-FD7CA04063E7}"/>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8" name="Footer Placeholder 7">
            <a:extLst>
              <a:ext uri="{FF2B5EF4-FFF2-40B4-BE49-F238E27FC236}">
                <a16:creationId xmlns:a16="http://schemas.microsoft.com/office/drawing/2014/main" id="{24B1C892-062F-845E-BB0B-FDAAE73C8E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2F0F05-11BB-5C5D-F216-0F19B6B321C5}"/>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915311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48D6-EA67-755D-9532-DB055F325F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D3D0E3-079F-C0A0-77C4-56AA4351C0EE}"/>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4" name="Footer Placeholder 3">
            <a:extLst>
              <a:ext uri="{FF2B5EF4-FFF2-40B4-BE49-F238E27FC236}">
                <a16:creationId xmlns:a16="http://schemas.microsoft.com/office/drawing/2014/main" id="{CA76C5DB-A728-02FB-1CF1-49E0ACF945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5E308E-B7FB-4C73-FA13-03DB5798D54D}"/>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2028893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015B59-CA92-06FC-55DA-85755C551D08}"/>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3" name="Footer Placeholder 2">
            <a:extLst>
              <a:ext uri="{FF2B5EF4-FFF2-40B4-BE49-F238E27FC236}">
                <a16:creationId xmlns:a16="http://schemas.microsoft.com/office/drawing/2014/main" id="{DE70B3B9-044F-BE49-104A-ABDDCC57F3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2905EC-57FE-FA18-A795-567F6CB43F0F}"/>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2744464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13910-4999-8BF5-025C-097C35350C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3E4308-F208-97E9-DDE5-4F034D6800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C4329F-8684-CE01-3784-1D616D6E2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CE743-FB30-DCFC-17DA-737B30CA548A}"/>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6" name="Footer Placeholder 5">
            <a:extLst>
              <a:ext uri="{FF2B5EF4-FFF2-40B4-BE49-F238E27FC236}">
                <a16:creationId xmlns:a16="http://schemas.microsoft.com/office/drawing/2014/main" id="{A7213DCE-2B62-E022-E4E9-AC589E21B6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838EF3-60CB-CE70-5F44-4B2FD4754E39}"/>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148926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0E210-B5D7-6DFA-1DCE-6DF2BD038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FD261-7495-B9C7-ABD4-14FE9DF7E7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16E3D9-A301-26A2-972D-05A6D3792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AAA9D-5949-54EE-F144-DF0EC0C4463D}"/>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6" name="Footer Placeholder 5">
            <a:extLst>
              <a:ext uri="{FF2B5EF4-FFF2-40B4-BE49-F238E27FC236}">
                <a16:creationId xmlns:a16="http://schemas.microsoft.com/office/drawing/2014/main" id="{03E0C6FB-6609-F48A-5E8A-3BFF3F860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1708C6-323B-787F-57B1-D159633CFE3B}"/>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2922472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BDE9-21B1-D9DB-CBF0-85572DB286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431166-5A1A-1575-8C2A-9CED0E2C0C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52FFF7-E68A-39C2-87BF-E23763448C87}"/>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6BCC29A0-1973-57BA-7FCD-74291D19D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A8D5F-BB63-D44D-6593-939A83E0C3CE}"/>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3166025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43C09-7660-EE8E-D9DF-B547BC152E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B6D24-C43E-3A93-EF80-EC48038668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50130-BCB5-BF4D-D32E-D56E4FF627DA}"/>
              </a:ext>
            </a:extLst>
          </p:cNvPr>
          <p:cNvSpPr>
            <a:spLocks noGrp="1"/>
          </p:cNvSpPr>
          <p:nvPr>
            <p:ph type="dt" sz="half" idx="10"/>
          </p:nvPr>
        </p:nvSpPr>
        <p:spPr/>
        <p:txBody>
          <a:body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4C4ECDC3-1F92-980D-16E7-1697A0882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3B5AE-16DD-2E1A-5B06-614B5C7C0A5C}"/>
              </a:ext>
            </a:extLst>
          </p:cNvPr>
          <p:cNvSpPr>
            <a:spLocks noGrp="1"/>
          </p:cNvSpPr>
          <p:nvPr>
            <p:ph type="sldNum" sz="quarter" idx="12"/>
          </p:nvPr>
        </p:nvSpPr>
        <p:spPr/>
        <p:txBody>
          <a:bodyPr/>
          <a:lstStyle/>
          <a:p>
            <a:fld id="{D6A98267-EB8A-D94C-A7C8-5C0F7C00DB69}" type="slidenum">
              <a:rPr lang="en-US" smtClean="0"/>
              <a:t>‹#›</a:t>
            </a:fld>
            <a:endParaRPr lang="en-US"/>
          </a:p>
        </p:txBody>
      </p:sp>
    </p:spTree>
    <p:extLst>
      <p:ext uri="{BB962C8B-B14F-4D97-AF65-F5344CB8AC3E}">
        <p14:creationId xmlns:p14="http://schemas.microsoft.com/office/powerpoint/2010/main" val="344643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3A1228-AED4-39D7-D393-54E675D514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C2D999-33C0-8D68-E826-FBB0CA918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22455-958F-A619-D75B-20129FE3B9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A4B20F-4F9A-2A44-99CF-8C105C66C96B}" type="datetimeFigureOut">
              <a:rPr lang="en-US" smtClean="0"/>
              <a:t>2/23/25</a:t>
            </a:fld>
            <a:endParaRPr lang="en-US"/>
          </a:p>
        </p:txBody>
      </p:sp>
      <p:sp>
        <p:nvSpPr>
          <p:cNvPr id="5" name="Footer Placeholder 4">
            <a:extLst>
              <a:ext uri="{FF2B5EF4-FFF2-40B4-BE49-F238E27FC236}">
                <a16:creationId xmlns:a16="http://schemas.microsoft.com/office/drawing/2014/main" id="{F6155D17-4B8B-EAF1-EDD7-D3305C30D7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FDAA25-97CA-E73F-8333-8B45271AE8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A98267-EB8A-D94C-A7C8-5C0F7C00DB69}" type="slidenum">
              <a:rPr lang="en-US" smtClean="0"/>
              <a:t>‹#›</a:t>
            </a:fld>
            <a:endParaRPr lang="en-US"/>
          </a:p>
        </p:txBody>
      </p:sp>
    </p:spTree>
    <p:extLst>
      <p:ext uri="{BB962C8B-B14F-4D97-AF65-F5344CB8AC3E}">
        <p14:creationId xmlns:p14="http://schemas.microsoft.com/office/powerpoint/2010/main" val="4033608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a.finance.yahoo.com/quote/CC%3DF/histor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www.fao.org/faostat/en/#data" TargetMode="External"/><Relationship Id="rId2" Type="http://schemas.openxmlformats.org/officeDocument/2006/relationships/hyperlink" Target="https://www.icco.org/about-cocoa/growing-cocoa.html" TargetMode="External"/><Relationship Id="rId1" Type="http://schemas.openxmlformats.org/officeDocument/2006/relationships/slideLayout" Target="../slideLayouts/slideLayout2.xml"/><Relationship Id="rId4" Type="http://schemas.openxmlformats.org/officeDocument/2006/relationships/hyperlink" Target="https://www.youtube.com/watch?v=-aCF0_wfVw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695F69-7001-421E-98A8-E74156934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food on a table&#10;&#10;AI-generated content may be incorrect.">
            <a:extLst>
              <a:ext uri="{FF2B5EF4-FFF2-40B4-BE49-F238E27FC236}">
                <a16:creationId xmlns:a16="http://schemas.microsoft.com/office/drawing/2014/main" id="{FE57E184-EAFB-2682-5AC0-68F67E531A49}"/>
              </a:ext>
            </a:extLst>
          </p:cNvPr>
          <p:cNvPicPr>
            <a:picLocks noChangeAspect="1"/>
          </p:cNvPicPr>
          <p:nvPr/>
        </p:nvPicPr>
        <p:blipFill>
          <a:blip r:embed="rId2"/>
          <a:srcRect l="40889"/>
          <a:stretch/>
        </p:blipFill>
        <p:spPr>
          <a:xfrm>
            <a:off x="6096010" y="10"/>
            <a:ext cx="6095999" cy="6857990"/>
          </a:xfrm>
          <a:custGeom>
            <a:avLst/>
            <a:gdLst/>
            <a:ahLst/>
            <a:cxnLst/>
            <a:rect l="l" t="t" r="r" b="b"/>
            <a:pathLst>
              <a:path w="6095999" h="685800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p:spPr>
      </p:pic>
      <p:sp>
        <p:nvSpPr>
          <p:cNvPr id="2" name="Title 1">
            <a:extLst>
              <a:ext uri="{FF2B5EF4-FFF2-40B4-BE49-F238E27FC236}">
                <a16:creationId xmlns:a16="http://schemas.microsoft.com/office/drawing/2014/main" id="{F4018CD2-DAE4-A783-F6EF-05240E8DB5EF}"/>
              </a:ext>
            </a:extLst>
          </p:cNvPr>
          <p:cNvSpPr>
            <a:spLocks noGrp="1"/>
          </p:cNvSpPr>
          <p:nvPr>
            <p:ph type="ctrTitle"/>
          </p:nvPr>
        </p:nvSpPr>
        <p:spPr>
          <a:xfrm>
            <a:off x="599818" y="5234320"/>
            <a:ext cx="6931319" cy="752217"/>
          </a:xfrm>
        </p:spPr>
        <p:txBody>
          <a:bodyPr anchor="b">
            <a:normAutofit/>
          </a:bodyPr>
          <a:lstStyle/>
          <a:p>
            <a:pPr algn="l"/>
            <a:endParaRPr lang="en-US" sz="3600" dirty="0">
              <a:solidFill>
                <a:schemeClr val="tx1">
                  <a:lumMod val="85000"/>
                  <a:lumOff val="15000"/>
                </a:schemeClr>
              </a:solidFill>
            </a:endParaRPr>
          </a:p>
        </p:txBody>
      </p:sp>
      <p:sp>
        <p:nvSpPr>
          <p:cNvPr id="3" name="Subtitle 2">
            <a:extLst>
              <a:ext uri="{FF2B5EF4-FFF2-40B4-BE49-F238E27FC236}">
                <a16:creationId xmlns:a16="http://schemas.microsoft.com/office/drawing/2014/main" id="{3B171983-ADE8-FABE-2A1E-5D9C380FCBFA}"/>
              </a:ext>
            </a:extLst>
          </p:cNvPr>
          <p:cNvSpPr>
            <a:spLocks noGrp="1"/>
          </p:cNvSpPr>
          <p:nvPr>
            <p:ph type="subTitle" idx="1"/>
          </p:nvPr>
        </p:nvSpPr>
        <p:spPr>
          <a:xfrm>
            <a:off x="599819" y="6059086"/>
            <a:ext cx="6931319" cy="349725"/>
          </a:xfrm>
        </p:spPr>
        <p:txBody>
          <a:bodyPr anchor="t">
            <a:normAutofit/>
          </a:bodyPr>
          <a:lstStyle/>
          <a:p>
            <a:pPr algn="l"/>
            <a:endParaRPr lang="en-US" sz="1600">
              <a:solidFill>
                <a:schemeClr val="tx1">
                  <a:lumMod val="85000"/>
                  <a:lumOff val="15000"/>
                </a:schemeClr>
              </a:solidFill>
            </a:endParaRPr>
          </a:p>
        </p:txBody>
      </p:sp>
      <p:pic>
        <p:nvPicPr>
          <p:cNvPr id="7" name="Picture 6" descr="A graph of stock market&#10;&#10;AI-generated content may be incorrect.">
            <a:extLst>
              <a:ext uri="{FF2B5EF4-FFF2-40B4-BE49-F238E27FC236}">
                <a16:creationId xmlns:a16="http://schemas.microsoft.com/office/drawing/2014/main" id="{B50121EA-AF7E-1EA5-8FEC-FF6F8CB7FBD6}"/>
              </a:ext>
            </a:extLst>
          </p:cNvPr>
          <p:cNvPicPr>
            <a:picLocks noChangeAspect="1"/>
          </p:cNvPicPr>
          <p:nvPr/>
        </p:nvPicPr>
        <p:blipFill>
          <a:blip r:embed="rId3"/>
          <a:srcRect l="11381" r="15071" b="1"/>
          <a:stretch/>
        </p:blipFill>
        <p:spPr>
          <a:xfrm>
            <a:off x="-5388" y="10"/>
            <a:ext cx="6169518" cy="5158840"/>
          </a:xfrm>
          <a:custGeom>
            <a:avLst/>
            <a:gdLst/>
            <a:ahLst/>
            <a:cxnLst/>
            <a:rect l="l" t="t" r="r" b="b"/>
            <a:pathLst>
              <a:path w="6096000" h="515885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p:spPr>
      </p:pic>
    </p:spTree>
    <p:extLst>
      <p:ext uri="{BB962C8B-B14F-4D97-AF65-F5344CB8AC3E}">
        <p14:creationId xmlns:p14="http://schemas.microsoft.com/office/powerpoint/2010/main" val="64548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55CC38-ED63-756B-5C42-CE2E90F16DA9}"/>
              </a:ext>
            </a:extLst>
          </p:cNvPr>
          <p:cNvSpPr>
            <a:spLocks noGrp="1"/>
          </p:cNvSpPr>
          <p:nvPr>
            <p:ph type="title"/>
          </p:nvPr>
        </p:nvSpPr>
        <p:spPr>
          <a:xfrm>
            <a:off x="808638" y="386930"/>
            <a:ext cx="9236700" cy="1188950"/>
          </a:xfrm>
        </p:spPr>
        <p:txBody>
          <a:bodyPr anchor="b">
            <a:normAutofit/>
          </a:bodyPr>
          <a:lstStyle/>
          <a:p>
            <a:r>
              <a:rPr lang="en-CA" sz="3000" b="1" kern="100">
                <a:effectLst/>
                <a:latin typeface="Times New Roman" panose="02020603050405020304" pitchFamily="18" charset="0"/>
                <a:ea typeface="Calibri" panose="020F0502020204030204" pitchFamily="34" charset="0"/>
                <a:cs typeface="Times New Roman" panose="02020603050405020304" pitchFamily="18" charset="0"/>
              </a:rPr>
              <a:t>Forecasting the Prices of Cocoa Using Python Modules</a:t>
            </a:r>
            <a:br>
              <a:rPr lang="en-CA" sz="3000" kern="100">
                <a:effectLst/>
                <a:latin typeface="Calibri" panose="020F0502020204030204" pitchFamily="34" charset="0"/>
                <a:ea typeface="Calibri" panose="020F0502020204030204" pitchFamily="34" charset="0"/>
                <a:cs typeface="Times New Roman" panose="02020603050405020304" pitchFamily="18" charset="0"/>
              </a:rPr>
            </a:br>
            <a:endParaRPr lang="en-US" sz="30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CEF17A-D663-ACFA-3E37-3F3504EBA9C5}"/>
              </a:ext>
            </a:extLst>
          </p:cNvPr>
          <p:cNvSpPr>
            <a:spLocks noGrp="1"/>
          </p:cNvSpPr>
          <p:nvPr>
            <p:ph idx="1"/>
          </p:nvPr>
        </p:nvSpPr>
        <p:spPr>
          <a:xfrm>
            <a:off x="793660" y="2599509"/>
            <a:ext cx="10143668" cy="3435531"/>
          </a:xfrm>
        </p:spPr>
        <p:txBody>
          <a:bodyPr anchor="ctr">
            <a:normAutofit/>
          </a:bodyPr>
          <a:lstStyle/>
          <a:p>
            <a:pPr marL="0" indent="0">
              <a:spcAft>
                <a:spcPts val="800"/>
              </a:spcAft>
              <a:buNone/>
            </a:pPr>
            <a:endParaRPr lang="en-CA" sz="24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Aft>
                <a:spcPts val="800"/>
              </a:spcAft>
              <a:buNone/>
            </a:pPr>
            <a:r>
              <a:rPr lang="en-CA" sz="2400" b="1" kern="100">
                <a:latin typeface="Times New Roman" panose="02020603050405020304" pitchFamily="18" charset="0"/>
                <a:ea typeface="Calibri" panose="020F0502020204030204" pitchFamily="34" charset="0"/>
                <a:cs typeface="Times New Roman" panose="02020603050405020304" pitchFamily="18" charset="0"/>
              </a:rPr>
              <a:t>by</a:t>
            </a:r>
          </a:p>
          <a:p>
            <a:pPr marL="0" indent="0">
              <a:spcAft>
                <a:spcPts val="800"/>
              </a:spcAft>
              <a:buNone/>
            </a:pPr>
            <a:r>
              <a:rPr lang="en-CA" sz="2400" b="1" kern="100">
                <a:effectLst/>
                <a:latin typeface="Times New Roman" panose="02020603050405020304" pitchFamily="18" charset="0"/>
                <a:ea typeface="Calibri" panose="020F0502020204030204" pitchFamily="34" charset="0"/>
                <a:cs typeface="Times New Roman" panose="02020603050405020304" pitchFamily="18" charset="0"/>
              </a:rPr>
              <a:t>Darko, Francis Owusu</a:t>
            </a:r>
          </a:p>
          <a:p>
            <a:pPr marL="0" indent="0">
              <a:spcBef>
                <a:spcPts val="0"/>
              </a:spcBef>
              <a:buNone/>
            </a:pPr>
            <a:r>
              <a:rPr lang="en-CA" sz="2400" kern="100">
                <a:effectLst/>
                <a:latin typeface="Times New Roman" panose="02020603050405020304" pitchFamily="18" charset="0"/>
                <a:ea typeface="Calibri" panose="020F0502020204030204" pitchFamily="34" charset="0"/>
                <a:cs typeface="Times New Roman" panose="02020603050405020304" pitchFamily="18" charset="0"/>
              </a:rPr>
              <a:t>School of Computing, Applied Science, and Engineering</a:t>
            </a:r>
          </a:p>
          <a:p>
            <a:pPr marL="0" indent="0">
              <a:spcBef>
                <a:spcPts val="0"/>
              </a:spcBef>
              <a:buNone/>
            </a:pPr>
            <a:r>
              <a:rPr lang="en-CA" sz="2400" kern="100">
                <a:effectLst/>
                <a:latin typeface="Times New Roman" panose="02020603050405020304" pitchFamily="18" charset="0"/>
                <a:ea typeface="Calibri" panose="020F0502020204030204" pitchFamily="34" charset="0"/>
                <a:cs typeface="Times New Roman" panose="02020603050405020304" pitchFamily="18" charset="0"/>
              </a:rPr>
              <a:t>Carolina University, U.S.A</a:t>
            </a:r>
          </a:p>
        </p:txBody>
      </p:sp>
    </p:spTree>
    <p:extLst>
      <p:ext uri="{BB962C8B-B14F-4D97-AF65-F5344CB8AC3E}">
        <p14:creationId xmlns:p14="http://schemas.microsoft.com/office/powerpoint/2010/main" val="2543034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A2BE26-3ACB-E73A-C041-F5681FA534FA}"/>
              </a:ext>
            </a:extLst>
          </p:cNvPr>
          <p:cNvSpPr>
            <a:spLocks noGrp="1"/>
          </p:cNvSpPr>
          <p:nvPr>
            <p:ph type="title"/>
          </p:nvPr>
        </p:nvSpPr>
        <p:spPr>
          <a:xfrm>
            <a:off x="808638" y="386930"/>
            <a:ext cx="9236700" cy="1188950"/>
          </a:xfrm>
        </p:spPr>
        <p:txBody>
          <a:bodyPr anchor="b">
            <a:normAutofit/>
          </a:bodyPr>
          <a:lstStyle/>
          <a:p>
            <a:r>
              <a:rPr lang="en-US" sz="5400"/>
              <a:t>Data set for the for the project: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BFB368-AE8B-338B-BDAA-19FE14D5F35C}"/>
              </a:ext>
            </a:extLst>
          </p:cNvPr>
          <p:cNvSpPr>
            <a:spLocks noGrp="1"/>
          </p:cNvSpPr>
          <p:nvPr>
            <p:ph idx="1"/>
          </p:nvPr>
        </p:nvSpPr>
        <p:spPr>
          <a:xfrm>
            <a:off x="793660" y="2599509"/>
            <a:ext cx="10143668" cy="3435531"/>
          </a:xfrm>
        </p:spPr>
        <p:txBody>
          <a:bodyPr anchor="ctr">
            <a:normAutofit/>
          </a:bodyPr>
          <a:lstStyle/>
          <a:p>
            <a:r>
              <a:rPr lang="en-CA" sz="2400" u="sng">
                <a:effectLst/>
                <a:latin typeface="Times New Roman" panose="02020603050405020304" pitchFamily="18" charset="0"/>
                <a:ea typeface="Times New Roman" panose="02020603050405020304" pitchFamily="18" charset="0"/>
                <a:hlinkClick r:id="rId2"/>
              </a:rPr>
              <a:t>https://ca.finance.yahoo.com/quote/CC%3DF/history/</a:t>
            </a:r>
            <a:r>
              <a:rPr lang="en-CA" sz="2400" u="sng">
                <a:latin typeface="Times New Roman" panose="02020603050405020304" pitchFamily="18" charset="0"/>
                <a:ea typeface="Times New Roman" panose="02020603050405020304" pitchFamily="18" charset="0"/>
              </a:rPr>
              <a:t> </a:t>
            </a:r>
          </a:p>
          <a:p>
            <a:r>
              <a:rPr lang="en-CA" sz="2400">
                <a:latin typeface="Times New Roman" panose="02020603050405020304" pitchFamily="18" charset="0"/>
                <a:ea typeface="Times New Roman" panose="02020603050405020304" pitchFamily="18" charset="0"/>
              </a:rPr>
              <a:t>Downloaded from Yahoo finance</a:t>
            </a:r>
            <a:endParaRPr lang="en-CA" sz="2400">
              <a:effectLst/>
              <a:latin typeface="Times New Roman" panose="02020603050405020304" pitchFamily="18" charset="0"/>
              <a:ea typeface="Times New Roman" panose="02020603050405020304" pitchFamily="18" charset="0"/>
            </a:endParaRPr>
          </a:p>
          <a:p>
            <a:pPr marL="0" indent="0">
              <a:buNone/>
            </a:pPr>
            <a:endParaRPr lang="en-US" sz="2400"/>
          </a:p>
        </p:txBody>
      </p:sp>
    </p:spTree>
    <p:extLst>
      <p:ext uri="{BB962C8B-B14F-4D97-AF65-F5344CB8AC3E}">
        <p14:creationId xmlns:p14="http://schemas.microsoft.com/office/powerpoint/2010/main" val="902022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706579-B2E8-79A3-77CB-BBF420BEE7BD}"/>
              </a:ext>
            </a:extLst>
          </p:cNvPr>
          <p:cNvSpPr>
            <a:spLocks noGrp="1"/>
          </p:cNvSpPr>
          <p:nvPr>
            <p:ph type="title"/>
          </p:nvPr>
        </p:nvSpPr>
        <p:spPr>
          <a:xfrm>
            <a:off x="808638" y="386930"/>
            <a:ext cx="9236700" cy="1188950"/>
          </a:xfrm>
        </p:spPr>
        <p:txBody>
          <a:bodyPr anchor="b">
            <a:normAutofit/>
          </a:bodyPr>
          <a:lstStyle/>
          <a:p>
            <a:r>
              <a:rPr lang="en-US" sz="3800" b="1"/>
              <a:t>Some Python Libraries used for the Project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88A08A-6BE0-230B-5AFF-D524FF7E8974}"/>
              </a:ext>
            </a:extLst>
          </p:cNvPr>
          <p:cNvSpPr>
            <a:spLocks noGrp="1"/>
          </p:cNvSpPr>
          <p:nvPr>
            <p:ph idx="1"/>
          </p:nvPr>
        </p:nvSpPr>
        <p:spPr>
          <a:xfrm>
            <a:off x="793660" y="2599509"/>
            <a:ext cx="10143668" cy="3435531"/>
          </a:xfrm>
        </p:spPr>
        <p:txBody>
          <a:bodyPr anchor="ctr">
            <a:normAutofit/>
          </a:bodyPr>
          <a:lstStyle/>
          <a:p>
            <a:pPr marL="0" indent="0">
              <a:buNone/>
            </a:pPr>
            <a:r>
              <a:rPr lang="en-CA" sz="1000">
                <a:effectLst/>
                <a:latin typeface="Times New Roman" panose="02020603050405020304" pitchFamily="18" charset="0"/>
                <a:cs typeface="Times New Roman" panose="02020603050405020304" pitchFamily="18" charset="0"/>
              </a:rPr>
              <a:t>pandas as pd</a:t>
            </a:r>
          </a:p>
          <a:p>
            <a:pPr marL="0" indent="0">
              <a:buNone/>
            </a:pPr>
            <a:endParaRPr lang="en-CA" sz="1000">
              <a:effectLst/>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numpy as np</a:t>
            </a:r>
          </a:p>
          <a:p>
            <a:pPr marL="0" indent="0">
              <a:buNone/>
            </a:pPr>
            <a:endParaRPr lang="en-CA" sz="1000">
              <a:effectLst/>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matplotlib.pyplot as plt</a:t>
            </a:r>
          </a:p>
          <a:p>
            <a:pPr marL="0" indent="0">
              <a:buNone/>
            </a:pPr>
            <a:endParaRPr lang="en-CA" sz="1000">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seaborn as sns</a:t>
            </a:r>
          </a:p>
          <a:p>
            <a:pPr marL="0" indent="0">
              <a:buNone/>
            </a:pPr>
            <a:endParaRPr lang="en-CA" sz="1000">
              <a:effectLst/>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scipy </a:t>
            </a:r>
          </a:p>
          <a:p>
            <a:pPr marL="0" indent="0">
              <a:buNone/>
            </a:pPr>
            <a:endParaRPr lang="en-CA" sz="1000">
              <a:effectLst/>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statsmodels.graphics.tsaplots import plot_acf, plot_pacf</a:t>
            </a:r>
          </a:p>
          <a:p>
            <a:pPr marL="0" indent="0">
              <a:buNone/>
            </a:pPr>
            <a:endParaRPr lang="en-CA" sz="1000">
              <a:effectLst/>
              <a:latin typeface="Times New Roman" panose="02020603050405020304" pitchFamily="18" charset="0"/>
              <a:cs typeface="Times New Roman" panose="02020603050405020304" pitchFamily="18" charset="0"/>
            </a:endParaRPr>
          </a:p>
          <a:p>
            <a:pPr marL="0" indent="0">
              <a:buNone/>
            </a:pPr>
            <a:r>
              <a:rPr lang="en-CA" sz="1000">
                <a:effectLst/>
                <a:latin typeface="Times New Roman" panose="02020603050405020304" pitchFamily="18" charset="0"/>
                <a:cs typeface="Times New Roman" panose="02020603050405020304" pitchFamily="18" charset="0"/>
              </a:rPr>
              <a:t>statsmodels.tsa.arima.model import ARIMA</a:t>
            </a:r>
          </a:p>
          <a:p>
            <a:pPr marL="0" indent="0">
              <a:buNone/>
            </a:pPr>
            <a:endParaRPr lang="en-CA" sz="1000" b="0">
              <a:effectLst/>
              <a:latin typeface="Courier New" panose="02070309020205020404" pitchFamily="49" charset="0"/>
            </a:endParaRPr>
          </a:p>
        </p:txBody>
      </p:sp>
    </p:spTree>
    <p:extLst>
      <p:ext uri="{BB962C8B-B14F-4D97-AF65-F5344CB8AC3E}">
        <p14:creationId xmlns:p14="http://schemas.microsoft.com/office/powerpoint/2010/main" val="190070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E46303-11F6-00B1-57F2-1B23869DE2B3}"/>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latin typeface="+mj-lt"/>
                <a:ea typeface="+mj-ea"/>
                <a:cs typeface="+mj-cs"/>
              </a:rPr>
              <a:t>Data  Type</a:t>
            </a:r>
          </a:p>
        </p:txBody>
      </p:sp>
      <p:sp>
        <p:nvSpPr>
          <p:cNvPr id="18"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96C9D470-023F-7339-4A3E-0DDBDC779D82}"/>
              </a:ext>
            </a:extLst>
          </p:cNvPr>
          <p:cNvSpPr>
            <a:spLocks noGrp="1"/>
          </p:cNvSpPr>
          <p:nvPr>
            <p:ph idx="1"/>
          </p:nvPr>
        </p:nvSpPr>
        <p:spPr>
          <a:xfrm>
            <a:off x="793661" y="2599509"/>
            <a:ext cx="4530898" cy="3639450"/>
          </a:xfrm>
        </p:spPr>
        <p:txBody>
          <a:bodyPr anchor="ctr">
            <a:normAutofit/>
          </a:bodyPr>
          <a:lstStyle/>
          <a:p>
            <a:r>
              <a:rPr lang="en-US" sz="2000" dirty="0">
                <a:latin typeface="Times New Roman" panose="02020603050405020304" pitchFamily="18" charset="0"/>
                <a:cs typeface="Times New Roman" panose="02020603050405020304" pitchFamily="18" charset="0"/>
              </a:rPr>
              <a:t>A Phyton function run on the data set reveals the data is object</a:t>
            </a:r>
          </a:p>
        </p:txBody>
      </p:sp>
      <p:pic>
        <p:nvPicPr>
          <p:cNvPr id="4" name="Content Placeholder 3" descr="A screenshot of a computer program&#10;&#10;AI-generated content may be incorrect.">
            <a:extLst>
              <a:ext uri="{FF2B5EF4-FFF2-40B4-BE49-F238E27FC236}">
                <a16:creationId xmlns:a16="http://schemas.microsoft.com/office/drawing/2014/main" id="{D42AD8D0-7578-FF7E-5976-BD3F20EAF6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89765" y="2484255"/>
            <a:ext cx="3993811" cy="3714244"/>
          </a:xfrm>
          <a:prstGeom prst="rect">
            <a:avLst/>
          </a:prstGeom>
        </p:spPr>
      </p:pic>
      <p:sp>
        <p:nvSpPr>
          <p:cNvPr id="22" name="Rectangle 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4320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BD4D36-CBAA-2EC2-36A3-7697C9DFBAB4}"/>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latin typeface="+mj-lt"/>
                <a:ea typeface="+mj-ea"/>
                <a:cs typeface="+mj-cs"/>
              </a:rPr>
              <a:t>Data Size and  Check</a:t>
            </a:r>
          </a:p>
        </p:txBody>
      </p:sp>
      <p:sp>
        <p:nvSpPr>
          <p:cNvPr id="18"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1E7F4738-AE38-6EA6-DC22-0470B81A1B38}"/>
              </a:ext>
            </a:extLst>
          </p:cNvPr>
          <p:cNvSpPr>
            <a:spLocks noGrp="1"/>
          </p:cNvSpPr>
          <p:nvPr>
            <p:ph idx="1"/>
          </p:nvPr>
        </p:nvSpPr>
        <p:spPr>
          <a:xfrm>
            <a:off x="793661" y="2599509"/>
            <a:ext cx="4530898" cy="3639450"/>
          </a:xfrm>
        </p:spPr>
        <p:txBody>
          <a:bodyPr anchor="ctr">
            <a:normAutofit/>
          </a:bodyPr>
          <a:lstStyle/>
          <a:p>
            <a:r>
              <a:rPr lang="en-US" sz="2000" dirty="0"/>
              <a:t>A Python function run on the data shows a data with 7 columns and 252 rows making 1764 entries.</a:t>
            </a:r>
          </a:p>
          <a:p>
            <a:r>
              <a:rPr lang="en-US" sz="2000" dirty="0"/>
              <a:t>The data has no missing value.</a:t>
            </a:r>
          </a:p>
        </p:txBody>
      </p:sp>
      <p:pic>
        <p:nvPicPr>
          <p:cNvPr id="4" name="Content Placeholder 3" descr="A screenshot of a computer&#10;&#10;AI-generated content may be incorrect.">
            <a:extLst>
              <a:ext uri="{FF2B5EF4-FFF2-40B4-BE49-F238E27FC236}">
                <a16:creationId xmlns:a16="http://schemas.microsoft.com/office/drawing/2014/main" id="{BF580171-6B7B-8ADC-4CD0-500D2156CB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5514" y="2484255"/>
            <a:ext cx="3742312" cy="3714244"/>
          </a:xfrm>
          <a:prstGeom prst="rect">
            <a:avLst/>
          </a:prstGeom>
        </p:spPr>
      </p:pic>
      <p:sp>
        <p:nvSpPr>
          <p:cNvPr id="22" name="Rectangle 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1240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AC489-52EA-AE91-35D1-AE9A4C979523}"/>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sz="5400"/>
              <a:t>Statistical Description of Data </a:t>
            </a:r>
          </a:p>
        </p:txBody>
      </p:sp>
      <p:grpSp>
        <p:nvGrpSpPr>
          <p:cNvPr id="24" name="Group 2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AA5999B9-53E3-7B9B-9B47-3B0CAF0E47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3344" y="471748"/>
            <a:ext cx="2526485" cy="2552007"/>
          </a:xfrm>
          <a:prstGeom prst="rect">
            <a:avLst/>
          </a:prstGeom>
        </p:spPr>
      </p:pic>
      <p:sp>
        <p:nvSpPr>
          <p:cNvPr id="33" name="Rectangle 3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4ABEB9A6-38DA-39F2-CBE8-25EF0D0251D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141016" y="3676230"/>
            <a:ext cx="4271141" cy="2552007"/>
          </a:xfrm>
          <a:prstGeom prst="rect">
            <a:avLst/>
          </a:prstGeom>
        </p:spPr>
      </p:pic>
    </p:spTree>
    <p:extLst>
      <p:ext uri="{BB962C8B-B14F-4D97-AF65-F5344CB8AC3E}">
        <p14:creationId xmlns:p14="http://schemas.microsoft.com/office/powerpoint/2010/main" val="3096582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552875-ED91-FD00-D4AA-816E909AB15E}"/>
              </a:ext>
            </a:extLst>
          </p:cNvPr>
          <p:cNvSpPr>
            <a:spLocks noGrp="1"/>
          </p:cNvSpPr>
          <p:nvPr>
            <p:ph type="title"/>
          </p:nvPr>
        </p:nvSpPr>
        <p:spPr>
          <a:xfrm>
            <a:off x="808638" y="386930"/>
            <a:ext cx="9236700" cy="1188950"/>
          </a:xfrm>
        </p:spPr>
        <p:txBody>
          <a:bodyPr anchor="b">
            <a:normAutofit/>
          </a:bodyPr>
          <a:lstStyle/>
          <a:p>
            <a:r>
              <a:rPr lang="en-US" sz="4200" b="1"/>
              <a:t>Statistical Description of Data Analysis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5AA947-432A-64D8-4727-1070ECED5B48}"/>
              </a:ext>
            </a:extLst>
          </p:cNvPr>
          <p:cNvSpPr>
            <a:spLocks noGrp="1"/>
          </p:cNvSpPr>
          <p:nvPr>
            <p:ph idx="1"/>
          </p:nvPr>
        </p:nvSpPr>
        <p:spPr>
          <a:xfrm>
            <a:off x="793660" y="2599509"/>
            <a:ext cx="10143668" cy="3435531"/>
          </a:xfrm>
        </p:spPr>
        <p:txBody>
          <a:bodyPr anchor="ctr">
            <a:normAutofit/>
          </a:bodyPr>
          <a:lstStyle/>
          <a:p>
            <a:r>
              <a:rPr lang="en-US" sz="2200">
                <a:latin typeface="Times New Roman" panose="02020603050405020304" pitchFamily="18" charset="0"/>
                <a:cs typeface="Times New Roman" panose="02020603050405020304" pitchFamily="18" charset="0"/>
              </a:rPr>
              <a:t>The mean of the “HIGH” column is significantly high and different from the other columns might be the presence of outliers.</a:t>
            </a:r>
          </a:p>
          <a:p>
            <a:r>
              <a:rPr lang="en-CA" sz="2200">
                <a:effectLst/>
                <a:latin typeface="Times New Roman" panose="02020603050405020304" pitchFamily="18" charset="0"/>
                <a:ea typeface="Calibri" panose="020F0502020204030204" pitchFamily="34" charset="0"/>
                <a:cs typeface="Times New Roman" panose="02020603050405020304" pitchFamily="18" charset="0"/>
              </a:rPr>
              <a:t>The standard deviation of the closing price is 1775.10, which is still high, suggesting significant cocoa price fluctuation over the period</a:t>
            </a:r>
            <a:r>
              <a:rPr lang="en-CA" sz="2200">
                <a:latin typeface="Times New Roman" panose="02020603050405020304" pitchFamily="18" charset="0"/>
                <a:ea typeface="Calibri" panose="020F0502020204030204" pitchFamily="34" charset="0"/>
                <a:cs typeface="Times New Roman" panose="02020603050405020304" pitchFamily="18" charset="0"/>
              </a:rPr>
              <a:t>.</a:t>
            </a:r>
          </a:p>
          <a:p>
            <a:r>
              <a:rPr lang="en-CA" sz="2200">
                <a:effectLst/>
                <a:latin typeface="Times New Roman" panose="02020603050405020304" pitchFamily="18" charset="0"/>
                <a:ea typeface="Calibri" panose="020F0502020204030204" pitchFamily="34" charset="0"/>
                <a:cs typeface="Times New Roman" panose="02020603050405020304" pitchFamily="18" charset="0"/>
              </a:rPr>
              <a:t>The price more than tripled from its lowest point to its highest, suggesting a</a:t>
            </a:r>
            <a:r>
              <a:rPr lang="en-CA" sz="2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CA" sz="2200">
                <a:effectLst/>
                <a:latin typeface="Times New Roman" panose="02020603050405020304" pitchFamily="18" charset="0"/>
                <a:ea typeface="Calibri" panose="020F0502020204030204" pitchFamily="34" charset="0"/>
                <a:cs typeface="Times New Roman" panose="02020603050405020304" pitchFamily="18" charset="0"/>
              </a:rPr>
              <a:t>colossal</a:t>
            </a:r>
            <a:r>
              <a:rPr lang="en-CA" sz="2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CA" sz="2200">
                <a:effectLst/>
                <a:latin typeface="Times New Roman" panose="02020603050405020304" pitchFamily="18" charset="0"/>
                <a:ea typeface="Calibri" panose="020F0502020204030204" pitchFamily="34" charset="0"/>
                <a:cs typeface="Times New Roman" panose="02020603050405020304" pitchFamily="18" charset="0"/>
              </a:rPr>
              <a:t>range</a:t>
            </a:r>
            <a:r>
              <a:rPr lang="en-CA" sz="2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CA" sz="2200">
                <a:effectLst/>
                <a:latin typeface="Times New Roman" panose="02020603050405020304" pitchFamily="18" charset="0"/>
                <a:ea typeface="Calibri" panose="020F0502020204030204" pitchFamily="34" charset="0"/>
                <a:cs typeface="Times New Roman" panose="02020603050405020304" pitchFamily="18" charset="0"/>
              </a:rPr>
              <a:t>of</a:t>
            </a:r>
            <a:r>
              <a:rPr lang="en-CA" sz="2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CA" sz="2200">
                <a:effectLst/>
                <a:latin typeface="Times New Roman" panose="02020603050405020304" pitchFamily="18" charset="0"/>
                <a:ea typeface="Calibri" panose="020F0502020204030204" pitchFamily="34" charset="0"/>
                <a:cs typeface="Times New Roman" panose="02020603050405020304" pitchFamily="18" charset="0"/>
              </a:rPr>
              <a:t>price</a:t>
            </a:r>
            <a:r>
              <a:rPr lang="en-CA" sz="2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CA" sz="2200">
                <a:effectLst/>
                <a:latin typeface="Times New Roman" panose="02020603050405020304" pitchFamily="18" charset="0"/>
                <a:ea typeface="Calibri" panose="020F0502020204030204" pitchFamily="34" charset="0"/>
                <a:cs typeface="Times New Roman" panose="02020603050405020304" pitchFamily="18" charset="0"/>
              </a:rPr>
              <a:t>movement. </a:t>
            </a:r>
          </a:p>
          <a:p>
            <a:r>
              <a:rPr lang="en-CA" sz="2200">
                <a:effectLst/>
                <a:latin typeface="Times New Roman" panose="02020603050405020304" pitchFamily="18" charset="0"/>
                <a:ea typeface="Calibri" panose="020F0502020204030204" pitchFamily="34" charset="0"/>
                <a:cs typeface="Times New Roman" panose="02020603050405020304" pitchFamily="18" charset="0"/>
              </a:rPr>
              <a:t>The percentiles indicate a considerable portion of the prices is between 7000 – 9000. </a:t>
            </a:r>
          </a:p>
          <a:p>
            <a:r>
              <a:rPr lang="en-CA" sz="2200" kern="100">
                <a:effectLst/>
                <a:latin typeface="Times New Roman" panose="02020603050405020304" pitchFamily="18" charset="0"/>
                <a:ea typeface="Calibri" panose="020F0502020204030204" pitchFamily="34" charset="0"/>
                <a:cs typeface="Times New Roman" panose="02020603050405020304" pitchFamily="18" charset="0"/>
              </a:rPr>
              <a:t>The median for the close is below the mean, which indicates the distribution of the prices skews to the right.</a:t>
            </a:r>
          </a:p>
          <a:p>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217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6E6BA4-5D7F-11AC-797F-2E6F95C8F199}"/>
              </a:ext>
            </a:extLst>
          </p:cNvPr>
          <p:cNvSpPr>
            <a:spLocks noGrp="1"/>
          </p:cNvSpPr>
          <p:nvPr>
            <p:ph type="title"/>
          </p:nvPr>
        </p:nvSpPr>
        <p:spPr>
          <a:xfrm>
            <a:off x="839788" y="987424"/>
            <a:ext cx="3932237" cy="1069975"/>
          </a:xfrm>
        </p:spPr>
        <p:txBody>
          <a:bodyPr/>
          <a:lstStyle/>
          <a:p>
            <a:r>
              <a:rPr lang="en-US" b="1" dirty="0">
                <a:latin typeface="Times New Roman" panose="02020603050405020304" pitchFamily="18" charset="0"/>
                <a:cs typeface="Times New Roman" panose="02020603050405020304" pitchFamily="18" charset="0"/>
              </a:rPr>
              <a:t>Line plot for “CLOSE PRICE</a:t>
            </a:r>
            <a:r>
              <a:rPr lang="en-US" dirty="0"/>
              <a:t>”</a:t>
            </a:r>
          </a:p>
        </p:txBody>
      </p:sp>
      <p:sp>
        <p:nvSpPr>
          <p:cNvPr id="5" name="Content Placeholder 4">
            <a:extLst>
              <a:ext uri="{FF2B5EF4-FFF2-40B4-BE49-F238E27FC236}">
                <a16:creationId xmlns:a16="http://schemas.microsoft.com/office/drawing/2014/main" id="{609690BE-2433-9BD3-2353-76CF70978489}"/>
              </a:ext>
            </a:extLst>
          </p:cNvPr>
          <p:cNvSpPr>
            <a:spLocks noGrp="1"/>
          </p:cNvSpPr>
          <p:nvPr>
            <p:ph idx="1"/>
          </p:nvPr>
        </p:nvSpPr>
        <p:spPr/>
        <p:txBody>
          <a:bodyPr/>
          <a:lstStyle/>
          <a:p>
            <a:endParaRPr lang="en-US" dirty="0"/>
          </a:p>
        </p:txBody>
      </p:sp>
      <p:sp>
        <p:nvSpPr>
          <p:cNvPr id="6" name="Text Placeholder 5">
            <a:extLst>
              <a:ext uri="{FF2B5EF4-FFF2-40B4-BE49-F238E27FC236}">
                <a16:creationId xmlns:a16="http://schemas.microsoft.com/office/drawing/2014/main" id="{28B218B2-636D-5219-0AE8-73EF31A58E93}"/>
              </a:ext>
            </a:extLst>
          </p:cNvPr>
          <p:cNvSpPr>
            <a:spLocks noGrp="1"/>
          </p:cNvSpPr>
          <p:nvPr>
            <p:ph type="body" sz="half" idx="2"/>
          </p:nvPr>
        </p:nvSpPr>
        <p:spPr>
          <a:xfrm>
            <a:off x="839788" y="2057400"/>
            <a:ext cx="3932237" cy="1371600"/>
          </a:xfrm>
        </p:spPr>
        <p:txBody>
          <a:bodyPr>
            <a:normAutofit fontScale="85000" lnSpcReduction="10000"/>
          </a:bodyPr>
          <a:lstStyle/>
          <a:p>
            <a:r>
              <a:rPr lang="en-US" sz="2800" dirty="0">
                <a:latin typeface="Times New Roman" panose="02020603050405020304" pitchFamily="18" charset="0"/>
                <a:cs typeface="Times New Roman" panose="02020603050405020304" pitchFamily="18" charset="0"/>
              </a:rPr>
              <a:t>The price shows both upward and downward trends over a year period indicating fluctuation in cocoa prices.</a:t>
            </a:r>
          </a:p>
          <a:p>
            <a:endParaRPr lang="en-US" dirty="0"/>
          </a:p>
        </p:txBody>
      </p:sp>
      <p:pic>
        <p:nvPicPr>
          <p:cNvPr id="8" name="Picture 7" descr="A screen shot of a graph&#10;&#10;AI-generated content may be incorrect.">
            <a:extLst>
              <a:ext uri="{FF2B5EF4-FFF2-40B4-BE49-F238E27FC236}">
                <a16:creationId xmlns:a16="http://schemas.microsoft.com/office/drawing/2014/main" id="{22E87CF6-2A50-B826-706A-49F6F277A6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3188" y="996949"/>
            <a:ext cx="6169024" cy="4912833"/>
          </a:xfrm>
          <a:prstGeom prst="rect">
            <a:avLst/>
          </a:prstGeom>
        </p:spPr>
      </p:pic>
    </p:spTree>
    <p:extLst>
      <p:ext uri="{BB962C8B-B14F-4D97-AF65-F5344CB8AC3E}">
        <p14:creationId xmlns:p14="http://schemas.microsoft.com/office/powerpoint/2010/main" val="46572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DBAC3A1-F4EB-C702-8EDE-8F9DBBA535D0}"/>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a:t>Histogram Plot</a:t>
            </a:r>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4851B16E-33FA-5DF0-E252-B5F55D174E31}"/>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All histograms show right-skewed direction which suggests there are many lower prices, but some high values push the distribution in the right direction. This indicate the data is not normally distributed.</a:t>
            </a:r>
          </a:p>
          <a:p>
            <a:pPr indent="-228600">
              <a:buFont typeface="Arial" panose="020B0604020202020204" pitchFamily="34" charset="0"/>
              <a:buChar char="•"/>
            </a:pPr>
            <a:r>
              <a:rPr lang="en-US" sz="2000"/>
              <a:t>The histograms did not show the presence of any outliers.</a:t>
            </a:r>
          </a:p>
        </p:txBody>
      </p:sp>
      <p:pic>
        <p:nvPicPr>
          <p:cNvPr id="8" name="Content Placeholder 7" descr="A graph of different sizes and colors&#10;&#10;AI-generated content may be incorrect.">
            <a:extLst>
              <a:ext uri="{FF2B5EF4-FFF2-40B4-BE49-F238E27FC236}">
                <a16:creationId xmlns:a16="http://schemas.microsoft.com/office/drawing/2014/main" id="{93D75D15-48BD-3A43-BFDC-9BF0B50DE6A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r="7787" b="-2"/>
          <a:stretch/>
        </p:blipFill>
        <p:spPr bwMode="auto">
          <a:xfrm>
            <a:off x="5911532" y="2484255"/>
            <a:ext cx="5150277" cy="3714244"/>
          </a:xfrm>
          <a:prstGeom prst="rect">
            <a:avLst/>
          </a:prstGeom>
          <a:noFill/>
        </p:spPr>
      </p:pic>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0612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B00FA-463D-3A42-0275-81A47270A96C}"/>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a:t>Box Plot</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F5D441D-94A2-8398-69B2-846DDB13CFA2}"/>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The box plot shows the absence of outliers, which suggests that price fluctuations or instability remained within a typical and expected range.</a:t>
            </a:r>
          </a:p>
        </p:txBody>
      </p:sp>
      <p:pic>
        <p:nvPicPr>
          <p:cNvPr id="5" name="Content Placeholder 4" descr="A screen shot of a graph&#10;&#10;AI-generated content may be incorrect.">
            <a:extLst>
              <a:ext uri="{FF2B5EF4-FFF2-40B4-BE49-F238E27FC236}">
                <a16:creationId xmlns:a16="http://schemas.microsoft.com/office/drawing/2014/main" id="{189BE2D7-C05E-7565-328B-F3BC3F8777D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22026" r="2" b="9283"/>
          <a:stretch/>
        </p:blipFill>
        <p:spPr>
          <a:xfrm>
            <a:off x="5911532" y="2484255"/>
            <a:ext cx="5150277"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058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6CAED0A-2A45-4C9C-BCDD-21A8A092C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8DB47-DB08-800D-962A-EACB165010BF}"/>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Scatter Plot and Correlation Matrices</a:t>
            </a:r>
          </a:p>
        </p:txBody>
      </p:sp>
      <p:sp>
        <p:nvSpPr>
          <p:cNvPr id="28" name="Rectangle 2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1069354-DE94-EB36-837E-3DB7CEC5F323}"/>
              </a:ext>
            </a:extLst>
          </p:cNvPr>
          <p:cNvSpPr>
            <a:spLocks noGrp="1"/>
          </p:cNvSpPr>
          <p:nvPr>
            <p:ph type="body" sz="half" idx="2"/>
          </p:nvPr>
        </p:nvSpPr>
        <p:spPr>
          <a:xfrm>
            <a:off x="793660" y="2599509"/>
            <a:ext cx="4160725" cy="3598989"/>
          </a:xfrm>
        </p:spPr>
        <p:txBody>
          <a:bodyPr vert="horz" lIns="91440" tIns="45720" rIns="91440" bIns="45720" rtlCol="0" anchor="ctr">
            <a:normAutofit/>
          </a:bodyPr>
          <a:lstStyle/>
          <a:p>
            <a:pPr indent="-228600">
              <a:buFont typeface="Arial" panose="020B0604020202020204" pitchFamily="34" charset="0"/>
              <a:buChar char="•"/>
            </a:pPr>
            <a:r>
              <a:rPr lang="en-US" sz="2000"/>
              <a:t>The Scatter Plot and Correlation Matrices show a strong positive correlation between the opening and closing prices, and an upward trend for prices.</a:t>
            </a:r>
          </a:p>
        </p:txBody>
      </p:sp>
      <p:pic>
        <p:nvPicPr>
          <p:cNvPr id="6" name="Picture 5" descr="A screen shot of a graph&#10;&#10;AI-generated content may be incorrect.">
            <a:extLst>
              <a:ext uri="{FF2B5EF4-FFF2-40B4-BE49-F238E27FC236}">
                <a16:creationId xmlns:a16="http://schemas.microsoft.com/office/drawing/2014/main" id="{9B7A031D-15BB-4292-2BC8-D0D219EA4AF2}"/>
              </a:ext>
            </a:extLst>
          </p:cNvPr>
          <p:cNvPicPr>
            <a:picLocks noChangeAspect="1"/>
          </p:cNvPicPr>
          <p:nvPr/>
        </p:nvPicPr>
        <p:blipFill>
          <a:blip r:embed="rId2" cstate="print">
            <a:extLst>
              <a:ext uri="{28A0092B-C50C-407E-A947-70E740481C1C}">
                <a14:useLocalDpi xmlns:a14="http://schemas.microsoft.com/office/drawing/2010/main" val="0"/>
              </a:ext>
            </a:extLst>
          </a:blip>
          <a:srcRect l="12024" r="13899" b="-1"/>
          <a:stretch/>
        </p:blipFill>
        <p:spPr>
          <a:xfrm>
            <a:off x="5418759" y="2559047"/>
            <a:ext cx="2741805" cy="3639451"/>
          </a:xfrm>
          <a:prstGeom prst="rect">
            <a:avLst/>
          </a:prstGeom>
        </p:spPr>
      </p:pic>
      <p:pic>
        <p:nvPicPr>
          <p:cNvPr id="5" name="Content Placeholder 4" descr="A graph with blue dots&#10;&#10;AI-generated content may be incorrect.">
            <a:extLst>
              <a:ext uri="{FF2B5EF4-FFF2-40B4-BE49-F238E27FC236}">
                <a16:creationId xmlns:a16="http://schemas.microsoft.com/office/drawing/2014/main" id="{30DBD8C2-F69F-75C8-A5FC-04EB9107FD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l="32981" r="6899" b="1"/>
          <a:stretch/>
        </p:blipFill>
        <p:spPr>
          <a:xfrm>
            <a:off x="8412616" y="2559047"/>
            <a:ext cx="2743620" cy="3639451"/>
          </a:xfrm>
          <a:prstGeom prst="rect">
            <a:avLst/>
          </a:prstGeom>
        </p:spPr>
      </p:pic>
      <p:sp>
        <p:nvSpPr>
          <p:cNvPr id="32" name="Rectangle 3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667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4E6A4-7273-B9D4-A0BF-F350F803D913}"/>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One-Way ANOVA Test</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48246F0-7EDC-7A56-73E6-206A8E4C1178}"/>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Ho = The price trend shows no significant change over the observed period.</a:t>
            </a:r>
          </a:p>
          <a:p>
            <a:pPr indent="-228600">
              <a:buFont typeface="Arial" panose="020B0604020202020204" pitchFamily="34" charset="0"/>
              <a:buChar char="•"/>
            </a:pPr>
            <a:r>
              <a:rPr lang="en-US" sz="2000"/>
              <a:t>The p-value&gt;0.05 suggests no statistically significant difference between the variables, hence failure to reject the null hypothesis, suggesting the prices of Cocoa follow a particular trend or pattern.</a:t>
            </a:r>
          </a:p>
          <a:p>
            <a:pPr indent="-228600">
              <a:buFont typeface="Arial" panose="020B0604020202020204" pitchFamily="34" charset="0"/>
              <a:buChar char="•"/>
            </a:pPr>
            <a:endParaRPr lang="en-US" sz="2000"/>
          </a:p>
        </p:txBody>
      </p:sp>
      <p:pic>
        <p:nvPicPr>
          <p:cNvPr id="5" name="Content Placeholder 4" descr="A computer screen shot of a program&#10;&#10;AI-generated content may be incorrect.">
            <a:extLst>
              <a:ext uri="{FF2B5EF4-FFF2-40B4-BE49-F238E27FC236}">
                <a16:creationId xmlns:a16="http://schemas.microsoft.com/office/drawing/2014/main" id="{04B00CB9-3734-4BE0-F6DE-DCDA2849DF1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3324198"/>
            <a:ext cx="5150277" cy="2034358"/>
          </a:xfrm>
          <a:prstGeom prst="rect">
            <a:avLst/>
          </a:prstGeom>
        </p:spPr>
      </p:pic>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5246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B06C4B-5326-12DC-7E79-ADEC3ED6C687}"/>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Time Series Plot</a:t>
            </a:r>
          </a:p>
        </p:txBody>
      </p:sp>
      <p:sp>
        <p:nvSpPr>
          <p:cNvPr id="23" name="Rectangle 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DA78469-5AD0-4268-3AE6-67CA3BA74F95}"/>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The time series plot of the data indicates an upward pattern with high volatility, indicating non-stationary because of the changing variance across sectors of the time series. </a:t>
            </a:r>
          </a:p>
        </p:txBody>
      </p:sp>
      <p:pic>
        <p:nvPicPr>
          <p:cNvPr id="9" name="Content Placeholder 8" descr="A graph with numbers and lines&#10;&#10;AI-generated content may be incorrect.">
            <a:extLst>
              <a:ext uri="{FF2B5EF4-FFF2-40B4-BE49-F238E27FC236}">
                <a16:creationId xmlns:a16="http://schemas.microsoft.com/office/drawing/2014/main" id="{C09CCDC2-282D-7E5B-EE89-BB128542162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17453" y="2484255"/>
            <a:ext cx="4138435" cy="3714244"/>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65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185537-EC56-27BF-B424-E0817B121AE7}"/>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Transformed Time Series Plot</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4563AD3B-455B-5087-9B8F-B6F8C1FF8817}"/>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The transformed time series plot shows less variance(around 2024-11) compared to the original. However, the trend still indicates non-stationarity.</a:t>
            </a:r>
          </a:p>
        </p:txBody>
      </p:sp>
      <p:pic>
        <p:nvPicPr>
          <p:cNvPr id="8" name="Content Placeholder 7" descr="A graph with numbers and lines&#10;&#10;AI-generated content may be incorrect.">
            <a:extLst>
              <a:ext uri="{FF2B5EF4-FFF2-40B4-BE49-F238E27FC236}">
                <a16:creationId xmlns:a16="http://schemas.microsoft.com/office/drawing/2014/main" id="{4E99000C-3E22-346D-CE0F-FD2532BBADC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2686851"/>
            <a:ext cx="5150277" cy="3309052"/>
          </a:xfrm>
          <a:prstGeom prst="rect">
            <a:avLst/>
          </a:prstGeom>
        </p:spPr>
      </p:pic>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753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3835D0-A3C1-9842-9437-4DA6BDB99ED5}"/>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ACF and PACF Plots</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93A2FD7-312E-DEA0-E035-6494E6EE92BD}"/>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effectLst/>
              </a:rPr>
              <a:t>The plot shows the ACF starts with a high value at lag 1 (close to 1) and then shows a gradual, exponential decay toward zero, with most values falling within the confidence interval, which indicates non-stationary data. </a:t>
            </a:r>
          </a:p>
          <a:p>
            <a:pPr indent="-228600">
              <a:buFont typeface="Arial" panose="020B0604020202020204" pitchFamily="34" charset="0"/>
              <a:buChar char="•"/>
            </a:pPr>
            <a:r>
              <a:rPr lang="en-US" sz="2000">
                <a:effectLst/>
              </a:rPr>
              <a:t>The PACF shows a significant spike at lag 1 (outside the confidence interval, close to 1) and then cuts off sharply, with subsequent lags falling within the confidence interval, indicating non-stationary </a:t>
            </a:r>
            <a:endParaRPr lang="en-US" sz="2000"/>
          </a:p>
        </p:txBody>
      </p:sp>
      <p:pic>
        <p:nvPicPr>
          <p:cNvPr id="5" name="Content Placeholder 4" descr="A graph of a curve&#10;&#10;AI-generated content may be incorrect.">
            <a:extLst>
              <a:ext uri="{FF2B5EF4-FFF2-40B4-BE49-F238E27FC236}">
                <a16:creationId xmlns:a16="http://schemas.microsoft.com/office/drawing/2014/main" id="{D08C9273-9D0F-B66F-5088-EC137278FC7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2622472"/>
            <a:ext cx="5150277" cy="3437810"/>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3384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26709-96A5-E5EA-B391-033F31446BF8}"/>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ADF(Augmented Dickey-Fuller) test</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58D763B-95B2-462F-BDC1-7285AC6CFD85}"/>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t>The high p-value of the ADF test suggests that the null hypothesis at a significance level of 0.05 can be rejected, meaning the presence of a unit root, indicating that it is non-stationary.</a:t>
            </a:r>
          </a:p>
        </p:txBody>
      </p:sp>
      <p:pic>
        <p:nvPicPr>
          <p:cNvPr id="5" name="Content Placeholder 4" descr="A screen shot of a computer program&#10;&#10;AI-generated content may be incorrect.">
            <a:extLst>
              <a:ext uri="{FF2B5EF4-FFF2-40B4-BE49-F238E27FC236}">
                <a16:creationId xmlns:a16="http://schemas.microsoft.com/office/drawing/2014/main" id="{49B8B7AE-C9B7-58F9-C8C4-4FBFAE20E1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11532" y="2883878"/>
            <a:ext cx="5150277" cy="2954214"/>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3037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DA5D60-D210-FF4D-AB15-4D634A5FEF3D}"/>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Time Series Plot after Differencing</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0B05493-F080-E571-1E43-D6684EBB29F2}"/>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effectLst/>
              </a:rPr>
              <a:t>Differencing was performed on the training data set to transform the non-stationary time series into a stationary time series by removing changes in the levels of the series. The new time series plot shows a stationary output as it fluctuates randomly around a mean of zero with constant variance and no trend or seasonality.</a:t>
            </a:r>
          </a:p>
          <a:p>
            <a:pPr indent="-228600">
              <a:buFont typeface="Arial" panose="020B0604020202020204" pitchFamily="34" charset="0"/>
              <a:buChar char="•"/>
            </a:pPr>
            <a:endParaRPr lang="en-US" sz="2000"/>
          </a:p>
        </p:txBody>
      </p:sp>
      <p:pic>
        <p:nvPicPr>
          <p:cNvPr id="5" name="Content Placeholder 4" descr="A screen shot of a graph&#10;&#10;AI-generated content may be incorrect.">
            <a:extLst>
              <a:ext uri="{FF2B5EF4-FFF2-40B4-BE49-F238E27FC236}">
                <a16:creationId xmlns:a16="http://schemas.microsoft.com/office/drawing/2014/main" id="{FE824221-D803-E498-2BCF-55D7C9C292C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70975" y="2484255"/>
            <a:ext cx="3231390" cy="3714244"/>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7492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24F3B4-5568-EB97-07CD-2337C4665EA5}"/>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100" b="1" kern="1200">
                <a:solidFill>
                  <a:schemeClr val="tx1"/>
                </a:solidFill>
                <a:latin typeface="+mj-lt"/>
                <a:ea typeface="+mj-ea"/>
                <a:cs typeface="+mj-cs"/>
              </a:rPr>
              <a:t>ACF AND PACF Plots for Differenced data set</a:t>
            </a:r>
          </a:p>
        </p:txBody>
      </p:sp>
      <p:sp>
        <p:nvSpPr>
          <p:cNvPr id="17" name="Rectangle 1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F70D6780-270C-829D-D54F-FF18CCC646F5}"/>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a:effectLst/>
              </a:rPr>
              <a:t>A new ACF for the time series shows sharp decay or drops in value more quickly, indicating the time series is less correlated to its lag, with all the lags falling with the confidence interval. The PACF plot shows a strong spike at lag one after the first differencing. These signs suggest the stationarity of the time series. </a:t>
            </a:r>
            <a:endParaRPr lang="en-US" sz="2000"/>
          </a:p>
        </p:txBody>
      </p:sp>
      <p:pic>
        <p:nvPicPr>
          <p:cNvPr id="5" name="Content Placeholder 4" descr="A screenshot of a computer screen&#10;&#10;AI-generated content may be incorrect.">
            <a:extLst>
              <a:ext uri="{FF2B5EF4-FFF2-40B4-BE49-F238E27FC236}">
                <a16:creationId xmlns:a16="http://schemas.microsoft.com/office/drawing/2014/main" id="{4E7B8A1B-44F1-1BB2-3C65-C25FB89837A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2500154"/>
            <a:ext cx="5150277" cy="368244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8863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5ECF5B-4459-F9ED-72FA-7D6B2C2DFA66}"/>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ADF test on Differenced Data</a:t>
            </a:r>
          </a:p>
        </p:txBody>
      </p:sp>
      <p:sp>
        <p:nvSpPr>
          <p:cNvPr id="23" name="Rectangle 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20E92AD-37A8-646B-8A53-AABFEEC56BD7}"/>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US" sz="2000" dirty="0">
                <a:effectLst/>
              </a:rPr>
              <a:t>ADF test performed after differencing gave a p&lt;0.05, indicating the null hypothesis can be rejected, indicating a unit root is absent and supporting the series is stationary.</a:t>
            </a:r>
          </a:p>
          <a:p>
            <a:pPr indent="-228600">
              <a:buFont typeface="Arial" panose="020B0604020202020204" pitchFamily="34" charset="0"/>
              <a:buChar char="•"/>
            </a:pPr>
            <a:endParaRPr lang="en-US" sz="2000" dirty="0"/>
          </a:p>
        </p:txBody>
      </p:sp>
      <p:pic>
        <p:nvPicPr>
          <p:cNvPr id="8" name="Content Placeholder 7" descr="A screen shot of a computer&#10;&#10;AI-generated content may be incorrect.">
            <a:extLst>
              <a:ext uri="{FF2B5EF4-FFF2-40B4-BE49-F238E27FC236}">
                <a16:creationId xmlns:a16="http://schemas.microsoft.com/office/drawing/2014/main" id="{95C021B2-16F4-8026-DE07-C99D0E206C7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3094011"/>
            <a:ext cx="5150277" cy="1620761"/>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1481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AC50D-52B4-57EC-CEB7-61EBB76FFEE6}"/>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solidFill>
                  <a:schemeClr val="tx1"/>
                </a:solidFill>
                <a:latin typeface="+mj-lt"/>
                <a:ea typeface="+mj-ea"/>
                <a:cs typeface="+mj-cs"/>
              </a:rPr>
              <a:t>ARIMA MODEL</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888BFD78-7923-A0FC-5D13-2ACDBF9BE9C4}"/>
              </a:ext>
            </a:extLst>
          </p:cNvPr>
          <p:cNvSpPr>
            <a:spLocks noGrp="1"/>
          </p:cNvSpPr>
          <p:nvPr>
            <p:ph type="body" sz="half" idx="2"/>
          </p:nvPr>
        </p:nvSpPr>
        <p:spPr>
          <a:xfrm>
            <a:off x="793661" y="2203080"/>
            <a:ext cx="4535084" cy="4267990"/>
          </a:xfrm>
        </p:spPr>
        <p:txBody>
          <a:bodyPr vert="horz" lIns="91440" tIns="45720" rIns="91440" bIns="45720" rtlCol="0" anchor="ctr">
            <a:normAutofit/>
          </a:bodyPr>
          <a:lstStyle/>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simpler Arima model was set as (0,1,1) </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Ljung</a:t>
            </a:r>
            <a:r>
              <a:rPr lang="en-US" dirty="0">
                <a:latin typeface="Times New Roman" panose="02020603050405020304" pitchFamily="18" charset="0"/>
                <a:cs typeface="Times New Roman" panose="02020603050405020304" pitchFamily="18" charset="0"/>
              </a:rPr>
              <a:t>-Box p-value of 0.84 indicates no significant autocorrelation; hence, the models capture dependencies. </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JB test, which assesses the normality distribution of the residuals, produces a p-value&gt; 0.05, suggesting the residuals are not normally distributed, indicating the presence of outliers in the residuals that can affect the accuracy of the model and the forecasting. </a:t>
            </a:r>
          </a:p>
          <a:p>
            <a:pPr indent="-228600">
              <a:buFont typeface="Arial" panose="020B0604020202020204" pitchFamily="34" charset="0"/>
              <a:buChar char="•"/>
            </a:pPr>
            <a:r>
              <a:rPr lang="en-CA" dirty="0">
                <a:effectLst/>
                <a:latin typeface="Times New Roman" panose="02020603050405020304" pitchFamily="18" charset="0"/>
                <a:ea typeface="Times New Roman" panose="02020603050405020304" pitchFamily="18" charset="0"/>
                <a:cs typeface="Times New Roman" panose="02020603050405020304" pitchFamily="18" charset="0"/>
              </a:rPr>
              <a:t>Heteroskedasticity(H) test for checking constant variance in residuals shows a value of 0.25(&lt;1) and a p-value of 0.00, indicating the significance of the heteroskedasticity in the residuals, which suggests the variance of the residuals changes over time affecting the model's reliability.</a:t>
            </a:r>
            <a:r>
              <a:rPr lang="en-CA" dirty="0">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5" name="Content Placeholder 4" descr="A screenshot of a computer&#10;&#10;AI-generated content may be incorrect.">
            <a:extLst>
              <a:ext uri="{FF2B5EF4-FFF2-40B4-BE49-F238E27FC236}">
                <a16:creationId xmlns:a16="http://schemas.microsoft.com/office/drawing/2014/main" id="{2A65B683-13BB-9DB0-4E68-1BE875C1EBA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3124624"/>
            <a:ext cx="5150277" cy="243350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5322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91D07F-9300-1CA9-1BDA-560E6C8D5A79}"/>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dirty="0"/>
              <a:t>Time Series Prediction</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AAF3525-7AE3-C891-380B-BBC70EE9A56E}"/>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CA" sz="1800" dirty="0">
                <a:effectLst/>
                <a:latin typeface="Times New Roman" panose="02020603050405020304" pitchFamily="18" charset="0"/>
                <a:ea typeface="Times New Roman" panose="02020603050405020304" pitchFamily="18" charset="0"/>
              </a:rPr>
              <a:t>The residual plot shows a random and general, known as white noise, time series with no clear trend, and the density looks normally distributed with the mean around zero</a:t>
            </a:r>
            <a:r>
              <a:rPr lang="en-CA" sz="2400" dirty="0">
                <a:effectLst/>
              </a:rPr>
              <a:t> </a:t>
            </a:r>
            <a:endParaRPr lang="en-US" sz="2000" dirty="0"/>
          </a:p>
        </p:txBody>
      </p:sp>
      <p:pic>
        <p:nvPicPr>
          <p:cNvPr id="5" name="Content Placeholder 4" descr="A screenshot of a computer screen&#10;&#10;AI-generated content may be incorrect.">
            <a:extLst>
              <a:ext uri="{FF2B5EF4-FFF2-40B4-BE49-F238E27FC236}">
                <a16:creationId xmlns:a16="http://schemas.microsoft.com/office/drawing/2014/main" id="{D429AB32-0370-16AF-7C3B-FDFEE520E3B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528" r="2" b="2"/>
          <a:stretch/>
        </p:blipFill>
        <p:spPr>
          <a:xfrm>
            <a:off x="5911532" y="2484255"/>
            <a:ext cx="5150277"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962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1F0D3-C851-D2F4-B5F6-1BCDA23F62B9}"/>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ACF and PACF Plots for Residuals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B5CE944-4AA5-59C2-F061-A12C28037903}"/>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CA"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values of both the ACF and PACF plots all fall within the confidence interval, indicating no significant autocorrelation at any lag, suggesting the residuals are uncorrelated and hence behave like white noise, suggesting the data do not follow a particular trend or systematic pattern or dependence.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228600">
              <a:buFont typeface="Arial" panose="020B0604020202020204" pitchFamily="34" charset="0"/>
              <a:buChar char="•"/>
            </a:pPr>
            <a:endParaRPr lang="en-US" sz="2000" dirty="0"/>
          </a:p>
        </p:txBody>
      </p:sp>
      <p:pic>
        <p:nvPicPr>
          <p:cNvPr id="5" name="Content Placeholder 4" descr="A screenshot of a computer screen&#10;&#10;AI-generated content may be incorrect.">
            <a:extLst>
              <a:ext uri="{FF2B5EF4-FFF2-40B4-BE49-F238E27FC236}">
                <a16:creationId xmlns:a16="http://schemas.microsoft.com/office/drawing/2014/main" id="{A5E37C08-7F88-0A55-A1EB-18CB73E3008B}"/>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16"/>
          <a:stretch/>
        </p:blipFill>
        <p:spPr bwMode="auto">
          <a:xfrm>
            <a:off x="5486400" y="2780068"/>
            <a:ext cx="5740472" cy="3035339"/>
          </a:xfrm>
          <a:prstGeom prst="rect">
            <a:avLst/>
          </a:prstGeom>
          <a:extLst>
            <a:ext uri="{53640926-AAD7-44D8-BBD7-CCE9431645EC}">
              <a14:shadowObscured xmlns:a14="http://schemas.microsoft.com/office/drawing/2010/main"/>
            </a:ext>
          </a:extLst>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1670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812D1-818A-262F-E164-6E6BDBDEC65C}"/>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a:t>Forecasting with ARIMA(0,1,1)</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F8A7E14-EEE0-3817-E0FC-27AC8AC20C0D}"/>
              </a:ext>
            </a:extLst>
          </p:cNvPr>
          <p:cNvSpPr>
            <a:spLocks noGrp="1"/>
          </p:cNvSpPr>
          <p:nvPr>
            <p:ph type="body" sz="half" idx="2"/>
          </p:nvPr>
        </p:nvSpPr>
        <p:spPr>
          <a:xfrm>
            <a:off x="793661" y="2599509"/>
            <a:ext cx="4530898" cy="3639450"/>
          </a:xfrm>
        </p:spPr>
        <p:txBody>
          <a:bodyPr vert="horz" lIns="91440" tIns="45720" rIns="91440" bIns="45720" rtlCol="0" anchor="ctr">
            <a:normAutofit/>
          </a:bodyPr>
          <a:lstStyle/>
          <a:p>
            <a:pPr indent="-228600">
              <a:buFont typeface="Arial" panose="020B0604020202020204" pitchFamily="34" charset="0"/>
              <a:buChar char="•"/>
            </a:pPr>
            <a:r>
              <a:rPr lang="en-CA" sz="2000" kern="100" dirty="0">
                <a:effectLst/>
                <a:latin typeface="Times New Roman" panose="02020603050405020304" pitchFamily="18" charset="0"/>
                <a:ea typeface="Times New Roman" panose="02020603050405020304" pitchFamily="18" charset="0"/>
                <a:cs typeface="Times New Roman" panose="02020603050405020304" pitchFamily="18" charset="0"/>
              </a:rPr>
              <a:t>Python function calculates and plots the prediction with the actual time series, including the test set.</a:t>
            </a:r>
            <a:endParaRPr lang="en-CA"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28600">
              <a:buFont typeface="Arial" panose="020B0604020202020204" pitchFamily="34" charset="0"/>
              <a:buChar char="•"/>
            </a:pPr>
            <a:r>
              <a:rPr lang="en-CA" sz="2000" kern="100" dirty="0">
                <a:effectLst/>
                <a:latin typeface="Times New Roman" panose="02020603050405020304" pitchFamily="18" charset="0"/>
                <a:ea typeface="Times New Roman" panose="02020603050405020304" pitchFamily="18" charset="0"/>
                <a:cs typeface="Times New Roman" panose="02020603050405020304" pitchFamily="18" charset="0"/>
              </a:rPr>
              <a:t>The results show that the prediction (</a:t>
            </a:r>
            <a:r>
              <a:rPr lang="en-CA" sz="2000" kern="100" dirty="0" err="1">
                <a:effectLst/>
                <a:latin typeface="Times New Roman" panose="02020603050405020304" pitchFamily="18" charset="0"/>
                <a:ea typeface="Times New Roman" panose="02020603050405020304" pitchFamily="18" charset="0"/>
                <a:cs typeface="Times New Roman" panose="02020603050405020304" pitchFamily="18" charset="0"/>
              </a:rPr>
              <a:t>forecast_manual</a:t>
            </a:r>
            <a:r>
              <a:rPr lang="en-CA" sz="2000" kern="100" dirty="0">
                <a:effectLst/>
                <a:latin typeface="Times New Roman" panose="02020603050405020304" pitchFamily="18" charset="0"/>
                <a:ea typeface="Times New Roman" panose="02020603050405020304" pitchFamily="18" charset="0"/>
                <a:cs typeface="Times New Roman" panose="02020603050405020304" pitchFamily="18" charset="0"/>
              </a:rPr>
              <a:t>) follows the same momentum, with an upward trend and volatility of the historical data.</a:t>
            </a:r>
            <a:endParaRPr lang="en-CA"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28600">
              <a:buFont typeface="Arial" panose="020B0604020202020204" pitchFamily="34" charset="0"/>
              <a:buChar char="•"/>
            </a:pPr>
            <a:endParaRPr lang="en-US" sz="2000" dirty="0"/>
          </a:p>
        </p:txBody>
      </p:sp>
      <p:pic>
        <p:nvPicPr>
          <p:cNvPr id="5" name="Content Placeholder 4" descr="A screen shot of a graph&#10;&#10;AI-generated content may be incorrect.">
            <a:extLst>
              <a:ext uri="{FF2B5EF4-FFF2-40B4-BE49-F238E27FC236}">
                <a16:creationId xmlns:a16="http://schemas.microsoft.com/office/drawing/2014/main" id="{AA6F2552-3E2F-652C-E284-1D063BAA133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10979" r="2" b="6367"/>
          <a:stretch/>
        </p:blipFill>
        <p:spPr>
          <a:xfrm>
            <a:off x="5412666" y="2484255"/>
            <a:ext cx="5738810"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5141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4DB6D7-E3F2-78AD-A31C-2CC238F045AA}"/>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solidFill>
                  <a:schemeClr val="tx1"/>
                </a:solidFill>
                <a:latin typeface="+mj-lt"/>
                <a:ea typeface="+mj-ea"/>
                <a:cs typeface="+mj-cs"/>
              </a:rPr>
              <a:t>Bollinger Band for “Cocoa Prices”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38BD50F-5A21-EC35-51E8-035195505BED}"/>
              </a:ext>
            </a:extLst>
          </p:cNvPr>
          <p:cNvSpPr>
            <a:spLocks noGrp="1"/>
          </p:cNvSpPr>
          <p:nvPr>
            <p:ph type="body" sz="half" idx="2"/>
          </p:nvPr>
        </p:nvSpPr>
        <p:spPr>
          <a:xfrm>
            <a:off x="793661" y="2375338"/>
            <a:ext cx="4530898" cy="3863621"/>
          </a:xfrm>
        </p:spPr>
        <p:txBody>
          <a:bodyPr vert="horz" lIns="91440" tIns="45720" rIns="91440" bIns="45720" rtlCol="0" anchor="ctr">
            <a:normAutofit fontScale="92500" lnSpcReduction="10000"/>
          </a:bodyPr>
          <a:lstStyle/>
          <a:p>
            <a:pPr indent="-228600">
              <a:buFont typeface="Arial" panose="020B0604020202020204" pitchFamily="34" charset="0"/>
              <a:buChar char="•"/>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The chart shows the Bollinger Bands from Cocoa prices for a year (from January 2024 to January 2025). A noticeable increase is observed </a:t>
            </a:r>
            <a:r>
              <a:rPr lang="en-CA" sz="2000"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rPr>
              <a:t>from January 12, 2024, to April 19, 2024</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when the prices got much closer to the upper band, signifying an overbought season. Prices fluctuate </a:t>
            </a:r>
            <a:r>
              <a:rPr lang="en-CA" sz="2000"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rPr>
              <a:t>from May 2024 to September 2024</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as the closing band touches both the upper and lower bands, suggesting a period of consolidation due to volatility. </a:t>
            </a:r>
          </a:p>
          <a:p>
            <a:pPr indent="-228600">
              <a:buFont typeface="Arial" panose="020B0604020202020204" pitchFamily="34" charset="0"/>
              <a:buChar char="•"/>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Another uptrend price movement is observed </a:t>
            </a:r>
            <a:r>
              <a:rPr lang="en-CA" sz="2000"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rPr>
              <a:t>from September 2024 to December 2024</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with prices approaching the upper band, indicating another overbought condition leading into the early</a:t>
            </a:r>
            <a:r>
              <a:rPr lang="en-CA" sz="20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indent="-228600">
              <a:buFont typeface="Arial" panose="020B0604020202020204" pitchFamily="34" charset="0"/>
              <a:buChar char="•"/>
            </a:pPr>
            <a:endParaRPr lang="en-US" sz="2000" dirty="0"/>
          </a:p>
        </p:txBody>
      </p:sp>
      <p:pic>
        <p:nvPicPr>
          <p:cNvPr id="5" name="Content Placeholder 4" descr="A graph showing the growth of the stock market&#10;&#10;AI-generated content may be incorrect.">
            <a:extLst>
              <a:ext uri="{FF2B5EF4-FFF2-40B4-BE49-F238E27FC236}">
                <a16:creationId xmlns:a16="http://schemas.microsoft.com/office/drawing/2014/main" id="{A1A3720F-EBB7-B688-E30C-92B78181CF5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44056" y="2780068"/>
            <a:ext cx="5517930" cy="276939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9689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CAE1E-A8DB-7B98-57E4-1466AB324D09}"/>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dirty="0">
                <a:solidFill>
                  <a:schemeClr val="tx1"/>
                </a:solidFill>
                <a:latin typeface="Times New Roman" panose="02020603050405020304" pitchFamily="18" charset="0"/>
                <a:cs typeface="Times New Roman" panose="02020603050405020304" pitchFamily="18" charset="0"/>
              </a:rPr>
              <a:t>Relative Strength Index(RSI</a:t>
            </a:r>
            <a:r>
              <a:rPr lang="en-US" sz="4800" kern="1200" dirty="0">
                <a:solidFill>
                  <a:schemeClr val="tx1"/>
                </a:solidFill>
                <a:latin typeface="+mj-lt"/>
                <a:ea typeface="+mj-ea"/>
                <a:cs typeface="+mj-cs"/>
              </a:rPr>
              <a:t>)</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CBE4650-5144-81FD-7438-3071B46092A5}"/>
              </a:ext>
            </a:extLst>
          </p:cNvPr>
          <p:cNvSpPr>
            <a:spLocks noGrp="1"/>
          </p:cNvSpPr>
          <p:nvPr>
            <p:ph type="body" sz="half" idx="2"/>
          </p:nvPr>
        </p:nvSpPr>
        <p:spPr>
          <a:xfrm>
            <a:off x="793661" y="2627586"/>
            <a:ext cx="4530898" cy="3611373"/>
          </a:xfrm>
        </p:spPr>
        <p:txBody>
          <a:bodyPr vert="horz" lIns="91440" tIns="45720" rIns="91440" bIns="45720" rtlCol="0" anchor="ctr">
            <a:normAutofit lnSpcReduction="10000"/>
          </a:bodyPr>
          <a:lstStyle/>
          <a:p>
            <a:pPr indent="215900" algn="just"/>
            <a:r>
              <a:rPr lang="en-CA" sz="1800" dirty="0">
                <a:solidFill>
                  <a:srgbClr val="0E101A"/>
                </a:solidFill>
                <a:effectLst/>
                <a:latin typeface="Times New Roman" panose="02020603050405020304" pitchFamily="18" charset="0"/>
                <a:ea typeface="Times New Roman" panose="02020603050405020304" pitchFamily="18" charset="0"/>
              </a:rPr>
              <a:t>The chart shows the RSI plot for Cocoa prices based on historical data for one year (from January 2024 to January 2025). From January 23, 2024, to March 4, 2024, a noticeable gradual trend was observed as it moved across the RSI =30 mark. </a:t>
            </a:r>
            <a:endParaRPr lang="en-CA" sz="1800" dirty="0">
              <a:effectLst/>
              <a:latin typeface="Times New Roman" panose="02020603050405020304" pitchFamily="18" charset="0"/>
              <a:ea typeface="Times New Roman" panose="02020603050405020304" pitchFamily="18" charset="0"/>
            </a:endParaRPr>
          </a:p>
          <a:p>
            <a:pPr indent="215900" algn="just"/>
            <a:r>
              <a:rPr lang="en-CA" sz="1800" dirty="0">
                <a:solidFill>
                  <a:srgbClr val="0E101A"/>
                </a:solidFill>
                <a:effectLst/>
                <a:latin typeface="Times New Roman" panose="02020603050405020304" pitchFamily="18" charset="0"/>
                <a:ea typeface="Times New Roman" panose="02020603050405020304" pitchFamily="18" charset="0"/>
              </a:rPr>
              <a:t>A downward trend is observed </a:t>
            </a:r>
            <a:r>
              <a:rPr lang="en-CA" sz="1800" b="0" dirty="0">
                <a:solidFill>
                  <a:srgbClr val="0E101A"/>
                </a:solidFill>
                <a:effectLst/>
                <a:latin typeface="Times New Roman" panose="02020603050405020304" pitchFamily="18" charset="0"/>
                <a:ea typeface="Times New Roman" panose="02020603050405020304" pitchFamily="18" charset="0"/>
              </a:rPr>
              <a:t>from</a:t>
            </a:r>
            <a:r>
              <a:rPr lang="en-CA" sz="1800" b="1" dirty="0">
                <a:solidFill>
                  <a:srgbClr val="0E101A"/>
                </a:solidFill>
                <a:effectLst/>
                <a:latin typeface="Times New Roman" panose="02020603050405020304" pitchFamily="18" charset="0"/>
                <a:ea typeface="Times New Roman" panose="02020603050405020304" pitchFamily="18" charset="0"/>
              </a:rPr>
              <a:t> </a:t>
            </a:r>
            <a:r>
              <a:rPr lang="en-CA" sz="1800" b="0" dirty="0">
                <a:solidFill>
                  <a:srgbClr val="0E101A"/>
                </a:solidFill>
                <a:effectLst/>
                <a:latin typeface="Times New Roman" panose="02020603050405020304" pitchFamily="18" charset="0"/>
                <a:ea typeface="Times New Roman" panose="02020603050405020304" pitchFamily="18" charset="0"/>
              </a:rPr>
              <a:t>March 2024 to April 2024</a:t>
            </a:r>
            <a:r>
              <a:rPr lang="en-CA" sz="1800" b="1" dirty="0">
                <a:solidFill>
                  <a:srgbClr val="0E101A"/>
                </a:solidFill>
                <a:effectLst/>
                <a:latin typeface="Times New Roman" panose="02020603050405020304" pitchFamily="18" charset="0"/>
                <a:ea typeface="Times New Roman" panose="02020603050405020304" pitchFamily="18" charset="0"/>
              </a:rPr>
              <a:t>. </a:t>
            </a:r>
            <a:r>
              <a:rPr lang="en-CA" sz="1800" dirty="0">
                <a:solidFill>
                  <a:srgbClr val="0E101A"/>
                </a:solidFill>
                <a:effectLst/>
                <a:latin typeface="Times New Roman" panose="02020603050405020304" pitchFamily="18" charset="0"/>
                <a:ea typeface="Times New Roman" panose="02020603050405020304" pitchFamily="18" charset="0"/>
              </a:rPr>
              <a:t>A steady uptrend movement of the price of Cocoa is seen from April to May, hitting the RSI = 70 mark, signifying an overbought period. Again, there are several peaks above the overbought level, particularly noticeable </a:t>
            </a:r>
            <a:r>
              <a:rPr lang="en-CA" sz="1800" b="0" dirty="0">
                <a:solidFill>
                  <a:srgbClr val="0E101A"/>
                </a:solidFill>
                <a:effectLst/>
                <a:latin typeface="Times New Roman" panose="02020603050405020304" pitchFamily="18" charset="0"/>
                <a:ea typeface="Times New Roman" panose="02020603050405020304" pitchFamily="18" charset="0"/>
              </a:rPr>
              <a:t>around June 2024 and September</a:t>
            </a:r>
            <a:r>
              <a:rPr lang="en-CA" sz="1800" b="1" dirty="0">
                <a:solidFill>
                  <a:srgbClr val="0E101A"/>
                </a:solidFill>
                <a:effectLst/>
                <a:latin typeface="Times New Roman" panose="02020603050405020304" pitchFamily="18" charset="0"/>
                <a:ea typeface="Times New Roman" panose="02020603050405020304" pitchFamily="18" charset="0"/>
              </a:rPr>
              <a:t> </a:t>
            </a:r>
            <a:r>
              <a:rPr lang="en-CA" sz="1800" b="0" dirty="0">
                <a:solidFill>
                  <a:srgbClr val="0E101A"/>
                </a:solidFill>
                <a:effectLst/>
                <a:latin typeface="Times New Roman" panose="02020603050405020304" pitchFamily="18" charset="0"/>
                <a:ea typeface="Times New Roman" panose="02020603050405020304" pitchFamily="18" charset="0"/>
              </a:rPr>
              <a:t>2024</a:t>
            </a:r>
            <a:r>
              <a:rPr lang="en-CA" sz="1800" dirty="0">
                <a:solidFill>
                  <a:srgbClr val="0E101A"/>
                </a:solidFill>
                <a:effectLst/>
                <a:latin typeface="Times New Roman" panose="02020603050405020304" pitchFamily="18" charset="0"/>
                <a:ea typeface="Times New Roman" panose="02020603050405020304" pitchFamily="18" charset="0"/>
              </a:rPr>
              <a:t>, which could have been points where traders might expect a price correction.</a:t>
            </a:r>
            <a:r>
              <a:rPr lang="en-CA" sz="1800" dirty="0">
                <a:effectLst/>
                <a:latin typeface="Times New Roman" panose="02020603050405020304" pitchFamily="18" charset="0"/>
                <a:ea typeface="Times New Roman" panose="02020603050405020304" pitchFamily="18" charset="0"/>
              </a:rPr>
              <a:t> </a:t>
            </a:r>
          </a:p>
          <a:p>
            <a:pPr indent="-228600">
              <a:buFont typeface="Arial" panose="020B0604020202020204" pitchFamily="34" charset="0"/>
              <a:buChar char="•"/>
            </a:pPr>
            <a:endParaRPr lang="en-US" sz="2000" dirty="0"/>
          </a:p>
        </p:txBody>
      </p:sp>
      <p:pic>
        <p:nvPicPr>
          <p:cNvPr id="5" name="Content Placeholder 4" descr="A graph showing a graph&#10;&#10;AI-generated content may be incorrect.">
            <a:extLst>
              <a:ext uri="{FF2B5EF4-FFF2-40B4-BE49-F238E27FC236}">
                <a16:creationId xmlns:a16="http://schemas.microsoft.com/office/drawing/2014/main" id="{1214A702-23BD-22B2-E5AC-00FF280ECA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11532" y="2854235"/>
            <a:ext cx="5150277" cy="2974283"/>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2402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5B339F4-93B9-4E04-9721-143AD6782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0"/>
            <a:ext cx="7147352" cy="5777808"/>
            <a:chOff x="329184" y="1"/>
            <a:chExt cx="524256" cy="5777808"/>
          </a:xfrm>
        </p:grpSpPr>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162BBE96-92E8-D2C9-0469-984606AD2BA6}"/>
              </a:ext>
            </a:extLst>
          </p:cNvPr>
          <p:cNvSpPr>
            <a:spLocks noGrp="1"/>
          </p:cNvSpPr>
          <p:nvPr>
            <p:ph type="ctrTitle"/>
          </p:nvPr>
        </p:nvSpPr>
        <p:spPr>
          <a:xfrm>
            <a:off x="1524000" y="1231961"/>
            <a:ext cx="9144000" cy="901639"/>
          </a:xfrm>
        </p:spPr>
        <p:txBody>
          <a:bodyPr>
            <a:normAutofit fontScale="90000"/>
          </a:bodyPr>
          <a:lstStyle/>
          <a:p>
            <a:r>
              <a:rPr lang="en-US" b="1" dirty="0"/>
              <a:t>CONCLUSION</a:t>
            </a:r>
          </a:p>
        </p:txBody>
      </p:sp>
      <p:sp>
        <p:nvSpPr>
          <p:cNvPr id="6" name="Subtitle 5">
            <a:extLst>
              <a:ext uri="{FF2B5EF4-FFF2-40B4-BE49-F238E27FC236}">
                <a16:creationId xmlns:a16="http://schemas.microsoft.com/office/drawing/2014/main" id="{6E9B7FE1-A172-176A-57C9-0DDE71BBBB3D}"/>
              </a:ext>
            </a:extLst>
          </p:cNvPr>
          <p:cNvSpPr>
            <a:spLocks noGrp="1"/>
          </p:cNvSpPr>
          <p:nvPr>
            <p:ph type="subTitle" idx="1"/>
          </p:nvPr>
        </p:nvSpPr>
        <p:spPr>
          <a:xfrm>
            <a:off x="1524000" y="2379289"/>
            <a:ext cx="9144000" cy="2988109"/>
          </a:xfrm>
        </p:spPr>
        <p:txBody>
          <a:bodyPr>
            <a:normAutofit fontScale="92500" lnSpcReduction="20000"/>
          </a:bodyPr>
          <a:lstStyle/>
          <a:p>
            <a:pPr indent="215900" algn="just"/>
            <a:r>
              <a:rPr lang="en-CA" sz="2800" dirty="0">
                <a:solidFill>
                  <a:srgbClr val="0E101A"/>
                </a:solidFill>
                <a:effectLst/>
                <a:latin typeface="Times New Roman" panose="02020603050405020304" pitchFamily="18" charset="0"/>
                <a:ea typeface="Times New Roman" panose="02020603050405020304" pitchFamily="18" charset="0"/>
              </a:rPr>
              <a:t>Future Cocoa price trends do not depend on any variable. Cocoa prices are expected</a:t>
            </a:r>
            <a:r>
              <a:rPr lang="en-CA" sz="2800" dirty="0">
                <a:effectLst/>
                <a:latin typeface="Times New Roman" panose="02020603050405020304" pitchFamily="18" charset="0"/>
                <a:ea typeface="Times New Roman" panose="02020603050405020304" pitchFamily="18" charset="0"/>
              </a:rPr>
              <a:t> to maintain an uptrend with periods of consolidation and volatility, driven by external factors such as climate challenges, supply shortages, and rising demand. However, persistent supply chain issues could lead to a break in the trend by 2025. </a:t>
            </a:r>
          </a:p>
          <a:p>
            <a:pPr indent="215900" algn="just"/>
            <a:r>
              <a:rPr lang="en-CA" sz="2800" dirty="0">
                <a:solidFill>
                  <a:srgbClr val="0E101A"/>
                </a:solidFill>
                <a:effectLst/>
                <a:latin typeface="Times New Roman" panose="02020603050405020304" pitchFamily="18" charset="0"/>
                <a:ea typeface="Times New Roman" panose="02020603050405020304" pitchFamily="18" charset="0"/>
              </a:rPr>
              <a:t>The price movement follows cycles of overbought and oversold conditions, with January 2025 showing strong momentum near RSI = 70, indicating a potential price increase before facing resistance.</a:t>
            </a:r>
            <a:endParaRPr lang="en-CA" sz="2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409751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D667-3FEC-FE46-229D-A6F1BBF0707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SOME REFERENCES</a:t>
            </a:r>
          </a:p>
        </p:txBody>
      </p:sp>
      <p:sp>
        <p:nvSpPr>
          <p:cNvPr id="3" name="Content Placeholder 2">
            <a:extLst>
              <a:ext uri="{FF2B5EF4-FFF2-40B4-BE49-F238E27FC236}">
                <a16:creationId xmlns:a16="http://schemas.microsoft.com/office/drawing/2014/main" id="{D88CF43C-4C96-8F27-FF44-9B60F53140E1}"/>
              </a:ext>
            </a:extLst>
          </p:cNvPr>
          <p:cNvSpPr>
            <a:spLocks noGrp="1"/>
          </p:cNvSpPr>
          <p:nvPr>
            <p:ph idx="1"/>
          </p:nvPr>
        </p:nvSpPr>
        <p:spPr/>
        <p:txBody>
          <a:bodyPr/>
          <a:lstStyle/>
          <a:p>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ICCO. (2013). Origins Of Cocoa and Its Spread Around The World[online]. Available: </a:t>
            </a:r>
            <a:r>
              <a:rPr lang="en-CA" sz="2000"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https://www.icco.org/about-cocoa/growing-cocoa.html</a:t>
            </a:r>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 </a:t>
            </a:r>
          </a:p>
          <a:p>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E. Poelmans, &amp; J. </a:t>
            </a:r>
            <a:r>
              <a:rPr lang="en-CA" sz="2000" dirty="0" err="1">
                <a:effectLst/>
                <a:latin typeface="Times New Roman" panose="02020603050405020304" pitchFamily="18" charset="0"/>
                <a:ea typeface="Times New Roman" panose="02020603050405020304" pitchFamily="18" charset="0"/>
                <a:cs typeface="Times New Roman" panose="02020603050405020304" pitchFamily="18" charset="0"/>
              </a:rPr>
              <a:t>Swinnen</a:t>
            </a:r>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 A Brief Economic History of Chocolate. In M. P. </a:t>
            </a:r>
            <a:r>
              <a:rPr lang="en-CA" sz="2000" dirty="0" err="1">
                <a:effectLst/>
                <a:latin typeface="Times New Roman" panose="02020603050405020304" pitchFamily="18" charset="0"/>
                <a:ea typeface="Times New Roman" panose="02020603050405020304" pitchFamily="18" charset="0"/>
                <a:cs typeface="Times New Roman" panose="02020603050405020304" pitchFamily="18" charset="0"/>
              </a:rPr>
              <a:t>Squicciarini</a:t>
            </a:r>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 &amp; J. </a:t>
            </a:r>
            <a:r>
              <a:rPr lang="en-CA" sz="2000" dirty="0" err="1">
                <a:effectLst/>
                <a:latin typeface="Times New Roman" panose="02020603050405020304" pitchFamily="18" charset="0"/>
                <a:ea typeface="Times New Roman" panose="02020603050405020304" pitchFamily="18" charset="0"/>
                <a:cs typeface="Times New Roman" panose="02020603050405020304" pitchFamily="18" charset="0"/>
              </a:rPr>
              <a:t>Swinnen</a:t>
            </a:r>
            <a:r>
              <a:rPr lang="en-CA" sz="2000" dirty="0">
                <a:effectLst/>
                <a:latin typeface="Times New Roman" panose="02020603050405020304" pitchFamily="18" charset="0"/>
                <a:ea typeface="Times New Roman" panose="02020603050405020304" pitchFamily="18" charset="0"/>
                <a:cs typeface="Times New Roman" panose="02020603050405020304" pitchFamily="18" charset="0"/>
              </a:rPr>
              <a:t> (Eds.), The economics of chocolate. University Press: Oxford, 2016, pp. 11-42.</a:t>
            </a:r>
          </a:p>
          <a:p>
            <a:r>
              <a:rPr lang="en-CA" sz="2000" dirty="0" err="1">
                <a:effectLst/>
                <a:latin typeface="Times New Roman" panose="02020603050405020304" pitchFamily="18" charset="0"/>
                <a:ea typeface="Calibri" panose="020F0502020204030204" pitchFamily="34" charset="0"/>
                <a:cs typeface="Times New Roman" panose="02020603050405020304" pitchFamily="18" charset="0"/>
              </a:rPr>
              <a:t>FAOStat</a:t>
            </a:r>
            <a:r>
              <a:rPr lang="en-CA" sz="2000" dirty="0">
                <a:effectLst/>
                <a:latin typeface="Times New Roman" panose="02020603050405020304" pitchFamily="18" charset="0"/>
                <a:ea typeface="Calibri" panose="020F0502020204030204" pitchFamily="34" charset="0"/>
                <a:cs typeface="Times New Roman" panose="02020603050405020304" pitchFamily="18" charset="0"/>
              </a:rPr>
              <a:t>. (2018). Food and Agriculture Organization[online]. Available: </a:t>
            </a:r>
            <a:r>
              <a:rPr lang="en-CA" sz="20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http://www.fao.org/faostat/en/#data</a:t>
            </a:r>
            <a:r>
              <a:rPr lang="en-CA" sz="2000" dirty="0">
                <a:effectLst/>
                <a:latin typeface="Times New Roman" panose="02020603050405020304" pitchFamily="18" charset="0"/>
                <a:cs typeface="Times New Roman" panose="02020603050405020304" pitchFamily="18" charset="0"/>
              </a:rPr>
              <a:t> </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K.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Sukiyono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Nabiu</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Sumantri</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Novanda</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et. al., “Selecting an Accurate Cacao Price Forecasting Model,” IOP Conf. Series: Journal of Physics, vol. 1114, pp.1-7, 2018.</a:t>
            </a:r>
            <a:r>
              <a:rPr lang="en-CA" sz="2000" dirty="0">
                <a:effectLst/>
                <a:latin typeface="Times New Roman" panose="02020603050405020304" pitchFamily="18" charset="0"/>
                <a:cs typeface="Times New Roman" panose="02020603050405020304" pitchFamily="18" charset="0"/>
              </a:rPr>
              <a:t> </a:t>
            </a:r>
            <a:endParaRPr lang="en-CA"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F.A. Arshad and M.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Zainalabidin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Price discovery through crude palm oil futures market: An economic evaluation, pp.73-92, 1994.</a:t>
            </a:r>
            <a:r>
              <a:rPr lang="en-CA" sz="2000" dirty="0">
                <a:effectLst/>
                <a:latin typeface="Times New Roman" panose="02020603050405020304" pitchFamily="18" charset="0"/>
                <a:cs typeface="Times New Roman" panose="02020603050405020304" pitchFamily="18" charset="0"/>
              </a:rPr>
              <a:t> </a:t>
            </a:r>
          </a:p>
          <a:p>
            <a:r>
              <a:rPr lang="en-CA" sz="2000"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rPr>
              <a:t>Justin (2023). How to build ARIMA models in Python for time series forecasting [Online]. Available:</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2000" u="sng"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https://www.youtube.com/watch?v=-aCF0_wfVwY</a:t>
            </a:r>
            <a:r>
              <a:rPr lang="en-CA" sz="2000" kern="100" dirty="0">
                <a:solidFill>
                  <a:srgbClr val="0E101A"/>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CA"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5394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TotalTime>
  <Words>1627</Words>
  <Application>Microsoft Macintosh PowerPoint</Application>
  <PresentationFormat>Widescreen</PresentationFormat>
  <Paragraphs>90</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Courier New</vt:lpstr>
      <vt:lpstr>Times New Roman</vt:lpstr>
      <vt:lpstr>Office Theme</vt:lpstr>
      <vt:lpstr>PowerPoint Presentation</vt:lpstr>
      <vt:lpstr>Forecasting the Prices of Cocoa Using Python Modules </vt:lpstr>
      <vt:lpstr>Data set for the for the project:</vt:lpstr>
      <vt:lpstr>Some Python Libraries used for the Project</vt:lpstr>
      <vt:lpstr>Data  Type</vt:lpstr>
      <vt:lpstr>Data Size and  Check</vt:lpstr>
      <vt:lpstr>Statistical Description of Data </vt:lpstr>
      <vt:lpstr>Statistical Description of Data Analysis</vt:lpstr>
      <vt:lpstr>Line plot for “CLOSE PRICE”</vt:lpstr>
      <vt:lpstr>Histogram Plot</vt:lpstr>
      <vt:lpstr>Box Plot</vt:lpstr>
      <vt:lpstr>Scatter Plot and Correlation Matrices</vt:lpstr>
      <vt:lpstr>One-Way ANOVA Test</vt:lpstr>
      <vt:lpstr>Time Series Plot</vt:lpstr>
      <vt:lpstr>Transformed Time Series Plot</vt:lpstr>
      <vt:lpstr>ACF and PACF Plots</vt:lpstr>
      <vt:lpstr>ADF(Augmented Dickey-Fuller) test</vt:lpstr>
      <vt:lpstr>Time Series Plot after Differencing</vt:lpstr>
      <vt:lpstr>ACF AND PACF Plots for Differenced data set</vt:lpstr>
      <vt:lpstr>ADF test on Differenced Data</vt:lpstr>
      <vt:lpstr>ARIMA MODEL</vt:lpstr>
      <vt:lpstr>Time Series Prediction</vt:lpstr>
      <vt:lpstr>ACF and PACF Plots for Residuals</vt:lpstr>
      <vt:lpstr>Forecasting with ARIMA(0,1,1)</vt:lpstr>
      <vt:lpstr>Bollinger Band for “Cocoa Prices”</vt:lpstr>
      <vt:lpstr>Relative Strength Index(RSI)</vt:lpstr>
      <vt:lpstr>CONCLUSION</vt:lpstr>
      <vt:lpstr>SOME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DARKO</dc:creator>
  <cp:lastModifiedBy>FRANCIS DARKO</cp:lastModifiedBy>
  <cp:revision>7</cp:revision>
  <dcterms:created xsi:type="dcterms:W3CDTF">2025-02-23T15:31:41Z</dcterms:created>
  <dcterms:modified xsi:type="dcterms:W3CDTF">2025-02-23T20:33:37Z</dcterms:modified>
</cp:coreProperties>
</file>